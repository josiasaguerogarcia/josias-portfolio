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8" r:id="rId2"/>
    <p:sldId id="257" r:id="rId3"/>
    <p:sldId id="259" r:id="rId4"/>
    <p:sldId id="260" r:id="rId5"/>
    <p:sldId id="261" r:id="rId6"/>
    <p:sldId id="262" r:id="rId7"/>
    <p:sldId id="263" r:id="rId8"/>
    <p:sldId id="264" r:id="rId9"/>
    <p:sldId id="266" r:id="rId10"/>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39" autoAdjust="0"/>
  </p:normalViewPr>
  <p:slideViewPr>
    <p:cSldViewPr snapToGrid="0">
      <p:cViewPr>
        <p:scale>
          <a:sx n="63" d="100"/>
          <a:sy n="63" d="100"/>
        </p:scale>
        <p:origin x="1454" y="4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31891D-2B68-49A8-8C7D-A28FC398CC93}" type="datetimeFigureOut">
              <a:rPr lang="es-AR" smtClean="0"/>
              <a:t>24/6/2025</a:t>
            </a:fld>
            <a:endParaRPr lang="es-AR"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B08920-15F6-4191-9FC5-1AFCBE850A8A}" type="slidenum">
              <a:rPr lang="es-AR" smtClean="0"/>
              <a:t>‹Nº›</a:t>
            </a:fld>
            <a:endParaRPr lang="es-AR" dirty="0"/>
          </a:p>
        </p:txBody>
      </p:sp>
    </p:spTree>
    <p:extLst>
      <p:ext uri="{BB962C8B-B14F-4D97-AF65-F5344CB8AC3E}">
        <p14:creationId xmlns:p14="http://schemas.microsoft.com/office/powerpoint/2010/main" val="721627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91B08920-15F6-4191-9FC5-1AFCBE850A8A}" type="slidenum">
              <a:rPr lang="es-AR" smtClean="0"/>
              <a:t>1</a:t>
            </a:fld>
            <a:endParaRPr lang="es-AR" dirty="0"/>
          </a:p>
        </p:txBody>
      </p:sp>
    </p:spTree>
    <p:extLst>
      <p:ext uri="{BB962C8B-B14F-4D97-AF65-F5344CB8AC3E}">
        <p14:creationId xmlns:p14="http://schemas.microsoft.com/office/powerpoint/2010/main" val="14989887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723F9B70-258A-4C87-B21B-E1B7F362AE80}" type="slidenum">
              <a:rPr lang="es-AR" smtClean="0"/>
              <a:t>2</a:t>
            </a:fld>
            <a:endParaRPr lang="es-AR" dirty="0"/>
          </a:p>
        </p:txBody>
      </p:sp>
    </p:spTree>
    <p:extLst>
      <p:ext uri="{BB962C8B-B14F-4D97-AF65-F5344CB8AC3E}">
        <p14:creationId xmlns:p14="http://schemas.microsoft.com/office/powerpoint/2010/main" val="13061395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91B08920-15F6-4191-9FC5-1AFCBE850A8A}" type="slidenum">
              <a:rPr lang="es-AR" smtClean="0"/>
              <a:t>3</a:t>
            </a:fld>
            <a:endParaRPr lang="es-AR" dirty="0"/>
          </a:p>
        </p:txBody>
      </p:sp>
    </p:spTree>
    <p:extLst>
      <p:ext uri="{BB962C8B-B14F-4D97-AF65-F5344CB8AC3E}">
        <p14:creationId xmlns:p14="http://schemas.microsoft.com/office/powerpoint/2010/main" val="20570679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91B08920-15F6-4191-9FC5-1AFCBE850A8A}" type="slidenum">
              <a:rPr lang="es-AR" smtClean="0"/>
              <a:t>4</a:t>
            </a:fld>
            <a:endParaRPr lang="es-AR" dirty="0"/>
          </a:p>
        </p:txBody>
      </p:sp>
    </p:spTree>
    <p:extLst>
      <p:ext uri="{BB962C8B-B14F-4D97-AF65-F5344CB8AC3E}">
        <p14:creationId xmlns:p14="http://schemas.microsoft.com/office/powerpoint/2010/main" val="13298181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91B08920-15F6-4191-9FC5-1AFCBE850A8A}" type="slidenum">
              <a:rPr lang="es-AR" smtClean="0"/>
              <a:t>5</a:t>
            </a:fld>
            <a:endParaRPr lang="es-AR" dirty="0"/>
          </a:p>
        </p:txBody>
      </p:sp>
    </p:spTree>
    <p:extLst>
      <p:ext uri="{BB962C8B-B14F-4D97-AF65-F5344CB8AC3E}">
        <p14:creationId xmlns:p14="http://schemas.microsoft.com/office/powerpoint/2010/main" val="30157044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91B08920-15F6-4191-9FC5-1AFCBE850A8A}" type="slidenum">
              <a:rPr lang="es-AR" smtClean="0"/>
              <a:t>6</a:t>
            </a:fld>
            <a:endParaRPr lang="es-AR" dirty="0"/>
          </a:p>
        </p:txBody>
      </p:sp>
    </p:spTree>
    <p:extLst>
      <p:ext uri="{BB962C8B-B14F-4D97-AF65-F5344CB8AC3E}">
        <p14:creationId xmlns:p14="http://schemas.microsoft.com/office/powerpoint/2010/main" val="28916766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91B08920-15F6-4191-9FC5-1AFCBE850A8A}" type="slidenum">
              <a:rPr lang="es-AR" smtClean="0"/>
              <a:t>7</a:t>
            </a:fld>
            <a:endParaRPr lang="es-AR" dirty="0"/>
          </a:p>
        </p:txBody>
      </p:sp>
    </p:spTree>
    <p:extLst>
      <p:ext uri="{BB962C8B-B14F-4D97-AF65-F5344CB8AC3E}">
        <p14:creationId xmlns:p14="http://schemas.microsoft.com/office/powerpoint/2010/main" val="17766419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91B08920-15F6-4191-9FC5-1AFCBE850A8A}" type="slidenum">
              <a:rPr lang="es-AR" smtClean="0"/>
              <a:t>9</a:t>
            </a:fld>
            <a:endParaRPr lang="es-AR" dirty="0"/>
          </a:p>
        </p:txBody>
      </p:sp>
    </p:spTree>
    <p:extLst>
      <p:ext uri="{BB962C8B-B14F-4D97-AF65-F5344CB8AC3E}">
        <p14:creationId xmlns:p14="http://schemas.microsoft.com/office/powerpoint/2010/main" val="39036952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908EBC-21C5-C363-8FC3-E8BFE39B9977}"/>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AR"/>
          </a:p>
        </p:txBody>
      </p:sp>
      <p:sp>
        <p:nvSpPr>
          <p:cNvPr id="3" name="Subtítulo 2">
            <a:extLst>
              <a:ext uri="{FF2B5EF4-FFF2-40B4-BE49-F238E27FC236}">
                <a16:creationId xmlns:a16="http://schemas.microsoft.com/office/drawing/2014/main" id="{158F9CB6-EED6-C51C-B5E9-915528CBDE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AR"/>
          </a:p>
        </p:txBody>
      </p:sp>
      <p:sp>
        <p:nvSpPr>
          <p:cNvPr id="4" name="Marcador de fecha 3">
            <a:extLst>
              <a:ext uri="{FF2B5EF4-FFF2-40B4-BE49-F238E27FC236}">
                <a16:creationId xmlns:a16="http://schemas.microsoft.com/office/drawing/2014/main" id="{EF89C505-7C84-3ED7-D604-7CF38333B6F5}"/>
              </a:ext>
            </a:extLst>
          </p:cNvPr>
          <p:cNvSpPr>
            <a:spLocks noGrp="1"/>
          </p:cNvSpPr>
          <p:nvPr>
            <p:ph type="dt" sz="half" idx="10"/>
          </p:nvPr>
        </p:nvSpPr>
        <p:spPr/>
        <p:txBody>
          <a:bodyPr/>
          <a:lstStyle/>
          <a:p>
            <a:fld id="{426B9652-4E04-4F9D-97A7-71329306EE7F}" type="datetimeFigureOut">
              <a:rPr lang="es-AR" smtClean="0"/>
              <a:t>24/6/2025</a:t>
            </a:fld>
            <a:endParaRPr lang="es-AR" dirty="0"/>
          </a:p>
        </p:txBody>
      </p:sp>
      <p:sp>
        <p:nvSpPr>
          <p:cNvPr id="5" name="Marcador de pie de página 4">
            <a:extLst>
              <a:ext uri="{FF2B5EF4-FFF2-40B4-BE49-F238E27FC236}">
                <a16:creationId xmlns:a16="http://schemas.microsoft.com/office/drawing/2014/main" id="{AC00E7A1-8C35-9D1D-1BF3-2E0A54A67E0E}"/>
              </a:ext>
            </a:extLst>
          </p:cNvPr>
          <p:cNvSpPr>
            <a:spLocks noGrp="1"/>
          </p:cNvSpPr>
          <p:nvPr>
            <p:ph type="ftr" sz="quarter" idx="11"/>
          </p:nvPr>
        </p:nvSpPr>
        <p:spPr/>
        <p:txBody>
          <a:bodyPr/>
          <a:lstStyle/>
          <a:p>
            <a:endParaRPr lang="es-AR" dirty="0"/>
          </a:p>
        </p:txBody>
      </p:sp>
      <p:sp>
        <p:nvSpPr>
          <p:cNvPr id="6" name="Marcador de número de diapositiva 5">
            <a:extLst>
              <a:ext uri="{FF2B5EF4-FFF2-40B4-BE49-F238E27FC236}">
                <a16:creationId xmlns:a16="http://schemas.microsoft.com/office/drawing/2014/main" id="{9FE470FC-4E0B-0891-3F2C-B4EBF78348C4}"/>
              </a:ext>
            </a:extLst>
          </p:cNvPr>
          <p:cNvSpPr>
            <a:spLocks noGrp="1"/>
          </p:cNvSpPr>
          <p:nvPr>
            <p:ph type="sldNum" sz="quarter" idx="12"/>
          </p:nvPr>
        </p:nvSpPr>
        <p:spPr/>
        <p:txBody>
          <a:bodyPr/>
          <a:lstStyle/>
          <a:p>
            <a:fld id="{67C1BA2E-6DB6-4A0D-B15B-7FBBB3819DB4}" type="slidenum">
              <a:rPr lang="es-AR" smtClean="0"/>
              <a:t>‹Nº›</a:t>
            </a:fld>
            <a:endParaRPr lang="es-AR" dirty="0"/>
          </a:p>
        </p:txBody>
      </p:sp>
    </p:spTree>
    <p:extLst>
      <p:ext uri="{BB962C8B-B14F-4D97-AF65-F5344CB8AC3E}">
        <p14:creationId xmlns:p14="http://schemas.microsoft.com/office/powerpoint/2010/main" val="28155585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AC4060-440C-F0D2-9CFA-8A95195431AA}"/>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621486A2-3B23-CC0D-C11A-D19E9D6169E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16FE1A22-494B-2BEC-D775-F3B408344975}"/>
              </a:ext>
            </a:extLst>
          </p:cNvPr>
          <p:cNvSpPr>
            <a:spLocks noGrp="1"/>
          </p:cNvSpPr>
          <p:nvPr>
            <p:ph type="dt" sz="half" idx="10"/>
          </p:nvPr>
        </p:nvSpPr>
        <p:spPr/>
        <p:txBody>
          <a:bodyPr/>
          <a:lstStyle/>
          <a:p>
            <a:fld id="{426B9652-4E04-4F9D-97A7-71329306EE7F}" type="datetimeFigureOut">
              <a:rPr lang="es-AR" smtClean="0"/>
              <a:t>24/6/2025</a:t>
            </a:fld>
            <a:endParaRPr lang="es-AR" dirty="0"/>
          </a:p>
        </p:txBody>
      </p:sp>
      <p:sp>
        <p:nvSpPr>
          <p:cNvPr id="5" name="Marcador de pie de página 4">
            <a:extLst>
              <a:ext uri="{FF2B5EF4-FFF2-40B4-BE49-F238E27FC236}">
                <a16:creationId xmlns:a16="http://schemas.microsoft.com/office/drawing/2014/main" id="{8067E9B5-34DF-00FC-A964-A8B67382A0CA}"/>
              </a:ext>
            </a:extLst>
          </p:cNvPr>
          <p:cNvSpPr>
            <a:spLocks noGrp="1"/>
          </p:cNvSpPr>
          <p:nvPr>
            <p:ph type="ftr" sz="quarter" idx="11"/>
          </p:nvPr>
        </p:nvSpPr>
        <p:spPr/>
        <p:txBody>
          <a:bodyPr/>
          <a:lstStyle/>
          <a:p>
            <a:endParaRPr lang="es-AR" dirty="0"/>
          </a:p>
        </p:txBody>
      </p:sp>
      <p:sp>
        <p:nvSpPr>
          <p:cNvPr id="6" name="Marcador de número de diapositiva 5">
            <a:extLst>
              <a:ext uri="{FF2B5EF4-FFF2-40B4-BE49-F238E27FC236}">
                <a16:creationId xmlns:a16="http://schemas.microsoft.com/office/drawing/2014/main" id="{C97F9E9E-4EB2-D370-39E5-464AB5B7CB72}"/>
              </a:ext>
            </a:extLst>
          </p:cNvPr>
          <p:cNvSpPr>
            <a:spLocks noGrp="1"/>
          </p:cNvSpPr>
          <p:nvPr>
            <p:ph type="sldNum" sz="quarter" idx="12"/>
          </p:nvPr>
        </p:nvSpPr>
        <p:spPr/>
        <p:txBody>
          <a:bodyPr/>
          <a:lstStyle/>
          <a:p>
            <a:fld id="{67C1BA2E-6DB6-4A0D-B15B-7FBBB3819DB4}" type="slidenum">
              <a:rPr lang="es-AR" smtClean="0"/>
              <a:t>‹Nº›</a:t>
            </a:fld>
            <a:endParaRPr lang="es-AR" dirty="0"/>
          </a:p>
        </p:txBody>
      </p:sp>
    </p:spTree>
    <p:extLst>
      <p:ext uri="{BB962C8B-B14F-4D97-AF65-F5344CB8AC3E}">
        <p14:creationId xmlns:p14="http://schemas.microsoft.com/office/powerpoint/2010/main" val="39418783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3DB8FF-9E61-9B94-944A-5D5FE7E2F7C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1A5EED42-5D8E-1336-F6EB-DD7F88C3D4F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B9E6BF4-5F80-78DA-2518-470B138D3C55}"/>
              </a:ext>
            </a:extLst>
          </p:cNvPr>
          <p:cNvSpPr>
            <a:spLocks noGrp="1"/>
          </p:cNvSpPr>
          <p:nvPr>
            <p:ph type="dt" sz="half" idx="10"/>
          </p:nvPr>
        </p:nvSpPr>
        <p:spPr/>
        <p:txBody>
          <a:bodyPr/>
          <a:lstStyle/>
          <a:p>
            <a:fld id="{426B9652-4E04-4F9D-97A7-71329306EE7F}" type="datetimeFigureOut">
              <a:rPr lang="es-AR" smtClean="0"/>
              <a:t>24/6/2025</a:t>
            </a:fld>
            <a:endParaRPr lang="es-AR" dirty="0"/>
          </a:p>
        </p:txBody>
      </p:sp>
      <p:sp>
        <p:nvSpPr>
          <p:cNvPr id="5" name="Marcador de pie de página 4">
            <a:extLst>
              <a:ext uri="{FF2B5EF4-FFF2-40B4-BE49-F238E27FC236}">
                <a16:creationId xmlns:a16="http://schemas.microsoft.com/office/drawing/2014/main" id="{067E1F20-B912-4F37-DB11-89119139338A}"/>
              </a:ext>
            </a:extLst>
          </p:cNvPr>
          <p:cNvSpPr>
            <a:spLocks noGrp="1"/>
          </p:cNvSpPr>
          <p:nvPr>
            <p:ph type="ftr" sz="quarter" idx="11"/>
          </p:nvPr>
        </p:nvSpPr>
        <p:spPr/>
        <p:txBody>
          <a:bodyPr/>
          <a:lstStyle/>
          <a:p>
            <a:endParaRPr lang="es-AR" dirty="0"/>
          </a:p>
        </p:txBody>
      </p:sp>
      <p:sp>
        <p:nvSpPr>
          <p:cNvPr id="6" name="Marcador de número de diapositiva 5">
            <a:extLst>
              <a:ext uri="{FF2B5EF4-FFF2-40B4-BE49-F238E27FC236}">
                <a16:creationId xmlns:a16="http://schemas.microsoft.com/office/drawing/2014/main" id="{7FD42135-87C0-85F2-5646-0CFA91A2A709}"/>
              </a:ext>
            </a:extLst>
          </p:cNvPr>
          <p:cNvSpPr>
            <a:spLocks noGrp="1"/>
          </p:cNvSpPr>
          <p:nvPr>
            <p:ph type="sldNum" sz="quarter" idx="12"/>
          </p:nvPr>
        </p:nvSpPr>
        <p:spPr/>
        <p:txBody>
          <a:bodyPr/>
          <a:lstStyle/>
          <a:p>
            <a:fld id="{67C1BA2E-6DB6-4A0D-B15B-7FBBB3819DB4}" type="slidenum">
              <a:rPr lang="es-AR" smtClean="0"/>
              <a:t>‹Nº›</a:t>
            </a:fld>
            <a:endParaRPr lang="es-AR" dirty="0"/>
          </a:p>
        </p:txBody>
      </p:sp>
    </p:spTree>
    <p:extLst>
      <p:ext uri="{BB962C8B-B14F-4D97-AF65-F5344CB8AC3E}">
        <p14:creationId xmlns:p14="http://schemas.microsoft.com/office/powerpoint/2010/main" val="1103360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A37A90-E587-B308-EC07-6C4048CA02BF}"/>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7FDFD8DD-B0A4-A1FF-F91E-46B8BBA4F6B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contenido 3">
            <a:extLst>
              <a:ext uri="{FF2B5EF4-FFF2-40B4-BE49-F238E27FC236}">
                <a16:creationId xmlns:a16="http://schemas.microsoft.com/office/drawing/2014/main" id="{9EE0171F-5569-2EB2-EBF2-48330900320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fecha 4">
            <a:extLst>
              <a:ext uri="{FF2B5EF4-FFF2-40B4-BE49-F238E27FC236}">
                <a16:creationId xmlns:a16="http://schemas.microsoft.com/office/drawing/2014/main" id="{CDBACD74-B6BA-BA01-30B3-7F28F8CC8095}"/>
              </a:ext>
            </a:extLst>
          </p:cNvPr>
          <p:cNvSpPr>
            <a:spLocks noGrp="1"/>
          </p:cNvSpPr>
          <p:nvPr>
            <p:ph type="dt" sz="half" idx="10"/>
          </p:nvPr>
        </p:nvSpPr>
        <p:spPr/>
        <p:txBody>
          <a:bodyPr/>
          <a:lstStyle/>
          <a:p>
            <a:fld id="{426B9652-4E04-4F9D-97A7-71329306EE7F}" type="datetimeFigureOut">
              <a:rPr lang="es-AR" smtClean="0"/>
              <a:t>24/6/2025</a:t>
            </a:fld>
            <a:endParaRPr lang="es-AR" dirty="0"/>
          </a:p>
        </p:txBody>
      </p:sp>
      <p:sp>
        <p:nvSpPr>
          <p:cNvPr id="6" name="Marcador de pie de página 5">
            <a:extLst>
              <a:ext uri="{FF2B5EF4-FFF2-40B4-BE49-F238E27FC236}">
                <a16:creationId xmlns:a16="http://schemas.microsoft.com/office/drawing/2014/main" id="{B8117EAF-FFA4-DD3F-1BFE-A8FFB37DE3AD}"/>
              </a:ext>
            </a:extLst>
          </p:cNvPr>
          <p:cNvSpPr>
            <a:spLocks noGrp="1"/>
          </p:cNvSpPr>
          <p:nvPr>
            <p:ph type="ftr" sz="quarter" idx="11"/>
          </p:nvPr>
        </p:nvSpPr>
        <p:spPr/>
        <p:txBody>
          <a:bodyPr/>
          <a:lstStyle/>
          <a:p>
            <a:endParaRPr lang="es-AR" dirty="0"/>
          </a:p>
        </p:txBody>
      </p:sp>
      <p:sp>
        <p:nvSpPr>
          <p:cNvPr id="7" name="Marcador de número de diapositiva 6">
            <a:extLst>
              <a:ext uri="{FF2B5EF4-FFF2-40B4-BE49-F238E27FC236}">
                <a16:creationId xmlns:a16="http://schemas.microsoft.com/office/drawing/2014/main" id="{6B1AF8C7-DE39-7A05-C4A9-29277F859B76}"/>
              </a:ext>
            </a:extLst>
          </p:cNvPr>
          <p:cNvSpPr>
            <a:spLocks noGrp="1"/>
          </p:cNvSpPr>
          <p:nvPr>
            <p:ph type="sldNum" sz="quarter" idx="12"/>
          </p:nvPr>
        </p:nvSpPr>
        <p:spPr/>
        <p:txBody>
          <a:bodyPr/>
          <a:lstStyle/>
          <a:p>
            <a:fld id="{67C1BA2E-6DB6-4A0D-B15B-7FBBB3819DB4}" type="slidenum">
              <a:rPr lang="es-AR" smtClean="0"/>
              <a:t>‹Nº›</a:t>
            </a:fld>
            <a:endParaRPr lang="es-AR" dirty="0"/>
          </a:p>
        </p:txBody>
      </p:sp>
    </p:spTree>
    <p:extLst>
      <p:ext uri="{BB962C8B-B14F-4D97-AF65-F5344CB8AC3E}">
        <p14:creationId xmlns:p14="http://schemas.microsoft.com/office/powerpoint/2010/main" val="8182674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164F50-5565-26E1-379A-7E1D865D7065}"/>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46773AAA-1ECA-9A7F-6306-F7F8C7DB08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DC9036B-3EC0-AC94-FFD7-FE49BFC1809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texto 4">
            <a:extLst>
              <a:ext uri="{FF2B5EF4-FFF2-40B4-BE49-F238E27FC236}">
                <a16:creationId xmlns:a16="http://schemas.microsoft.com/office/drawing/2014/main" id="{0F799AB4-A9D1-0406-31AD-9D069BCAA2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893D241-56FE-B36E-DCB0-C742CEC69FB1}"/>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Marcador de fecha 6">
            <a:extLst>
              <a:ext uri="{FF2B5EF4-FFF2-40B4-BE49-F238E27FC236}">
                <a16:creationId xmlns:a16="http://schemas.microsoft.com/office/drawing/2014/main" id="{A88A6297-E0BE-92DF-96CB-1B738A347F38}"/>
              </a:ext>
            </a:extLst>
          </p:cNvPr>
          <p:cNvSpPr>
            <a:spLocks noGrp="1"/>
          </p:cNvSpPr>
          <p:nvPr>
            <p:ph type="dt" sz="half" idx="10"/>
          </p:nvPr>
        </p:nvSpPr>
        <p:spPr/>
        <p:txBody>
          <a:bodyPr/>
          <a:lstStyle/>
          <a:p>
            <a:fld id="{426B9652-4E04-4F9D-97A7-71329306EE7F}" type="datetimeFigureOut">
              <a:rPr lang="es-AR" smtClean="0"/>
              <a:t>24/6/2025</a:t>
            </a:fld>
            <a:endParaRPr lang="es-AR" dirty="0"/>
          </a:p>
        </p:txBody>
      </p:sp>
      <p:sp>
        <p:nvSpPr>
          <p:cNvPr id="8" name="Marcador de pie de página 7">
            <a:extLst>
              <a:ext uri="{FF2B5EF4-FFF2-40B4-BE49-F238E27FC236}">
                <a16:creationId xmlns:a16="http://schemas.microsoft.com/office/drawing/2014/main" id="{96F98DF9-7C2A-64B2-8020-6C8ADF3E3CF5}"/>
              </a:ext>
            </a:extLst>
          </p:cNvPr>
          <p:cNvSpPr>
            <a:spLocks noGrp="1"/>
          </p:cNvSpPr>
          <p:nvPr>
            <p:ph type="ftr" sz="quarter" idx="11"/>
          </p:nvPr>
        </p:nvSpPr>
        <p:spPr/>
        <p:txBody>
          <a:bodyPr/>
          <a:lstStyle/>
          <a:p>
            <a:endParaRPr lang="es-AR" dirty="0"/>
          </a:p>
        </p:txBody>
      </p:sp>
      <p:sp>
        <p:nvSpPr>
          <p:cNvPr id="9" name="Marcador de número de diapositiva 8">
            <a:extLst>
              <a:ext uri="{FF2B5EF4-FFF2-40B4-BE49-F238E27FC236}">
                <a16:creationId xmlns:a16="http://schemas.microsoft.com/office/drawing/2014/main" id="{3BC96B0D-A41E-98E7-2312-F20E7D0F5530}"/>
              </a:ext>
            </a:extLst>
          </p:cNvPr>
          <p:cNvSpPr>
            <a:spLocks noGrp="1"/>
          </p:cNvSpPr>
          <p:nvPr>
            <p:ph type="sldNum" sz="quarter" idx="12"/>
          </p:nvPr>
        </p:nvSpPr>
        <p:spPr/>
        <p:txBody>
          <a:bodyPr/>
          <a:lstStyle/>
          <a:p>
            <a:fld id="{67C1BA2E-6DB6-4A0D-B15B-7FBBB3819DB4}" type="slidenum">
              <a:rPr lang="es-AR" smtClean="0"/>
              <a:t>‹Nº›</a:t>
            </a:fld>
            <a:endParaRPr lang="es-AR" dirty="0"/>
          </a:p>
        </p:txBody>
      </p:sp>
    </p:spTree>
    <p:extLst>
      <p:ext uri="{BB962C8B-B14F-4D97-AF65-F5344CB8AC3E}">
        <p14:creationId xmlns:p14="http://schemas.microsoft.com/office/powerpoint/2010/main" val="28722408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A6A58A-6441-2C8B-CCF7-9B4F0A4027BC}"/>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fecha 2">
            <a:extLst>
              <a:ext uri="{FF2B5EF4-FFF2-40B4-BE49-F238E27FC236}">
                <a16:creationId xmlns:a16="http://schemas.microsoft.com/office/drawing/2014/main" id="{DCDB7254-05CA-76E1-6E28-1C22545F350E}"/>
              </a:ext>
            </a:extLst>
          </p:cNvPr>
          <p:cNvSpPr>
            <a:spLocks noGrp="1"/>
          </p:cNvSpPr>
          <p:nvPr>
            <p:ph type="dt" sz="half" idx="10"/>
          </p:nvPr>
        </p:nvSpPr>
        <p:spPr/>
        <p:txBody>
          <a:bodyPr/>
          <a:lstStyle/>
          <a:p>
            <a:fld id="{426B9652-4E04-4F9D-97A7-71329306EE7F}" type="datetimeFigureOut">
              <a:rPr lang="es-AR" smtClean="0"/>
              <a:t>24/6/2025</a:t>
            </a:fld>
            <a:endParaRPr lang="es-AR" dirty="0"/>
          </a:p>
        </p:txBody>
      </p:sp>
      <p:sp>
        <p:nvSpPr>
          <p:cNvPr id="4" name="Marcador de pie de página 3">
            <a:extLst>
              <a:ext uri="{FF2B5EF4-FFF2-40B4-BE49-F238E27FC236}">
                <a16:creationId xmlns:a16="http://schemas.microsoft.com/office/drawing/2014/main" id="{B082C749-5D90-CC65-841D-F4BFCFBDFE98}"/>
              </a:ext>
            </a:extLst>
          </p:cNvPr>
          <p:cNvSpPr>
            <a:spLocks noGrp="1"/>
          </p:cNvSpPr>
          <p:nvPr>
            <p:ph type="ftr" sz="quarter" idx="11"/>
          </p:nvPr>
        </p:nvSpPr>
        <p:spPr/>
        <p:txBody>
          <a:bodyPr/>
          <a:lstStyle/>
          <a:p>
            <a:endParaRPr lang="es-AR" dirty="0"/>
          </a:p>
        </p:txBody>
      </p:sp>
      <p:sp>
        <p:nvSpPr>
          <p:cNvPr id="5" name="Marcador de número de diapositiva 4">
            <a:extLst>
              <a:ext uri="{FF2B5EF4-FFF2-40B4-BE49-F238E27FC236}">
                <a16:creationId xmlns:a16="http://schemas.microsoft.com/office/drawing/2014/main" id="{CF95F1D4-B812-C88A-248B-5E993E18382F}"/>
              </a:ext>
            </a:extLst>
          </p:cNvPr>
          <p:cNvSpPr>
            <a:spLocks noGrp="1"/>
          </p:cNvSpPr>
          <p:nvPr>
            <p:ph type="sldNum" sz="quarter" idx="12"/>
          </p:nvPr>
        </p:nvSpPr>
        <p:spPr/>
        <p:txBody>
          <a:bodyPr/>
          <a:lstStyle/>
          <a:p>
            <a:fld id="{67C1BA2E-6DB6-4A0D-B15B-7FBBB3819DB4}" type="slidenum">
              <a:rPr lang="es-AR" smtClean="0"/>
              <a:t>‹Nº›</a:t>
            </a:fld>
            <a:endParaRPr lang="es-AR" dirty="0"/>
          </a:p>
        </p:txBody>
      </p:sp>
    </p:spTree>
    <p:extLst>
      <p:ext uri="{BB962C8B-B14F-4D97-AF65-F5344CB8AC3E}">
        <p14:creationId xmlns:p14="http://schemas.microsoft.com/office/powerpoint/2010/main" val="1602932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64A53B1-8089-B694-B45A-762F71E4355A}"/>
              </a:ext>
            </a:extLst>
          </p:cNvPr>
          <p:cNvSpPr>
            <a:spLocks noGrp="1"/>
          </p:cNvSpPr>
          <p:nvPr>
            <p:ph type="dt" sz="half" idx="10"/>
          </p:nvPr>
        </p:nvSpPr>
        <p:spPr/>
        <p:txBody>
          <a:bodyPr/>
          <a:lstStyle/>
          <a:p>
            <a:fld id="{426B9652-4E04-4F9D-97A7-71329306EE7F}" type="datetimeFigureOut">
              <a:rPr lang="es-AR" smtClean="0"/>
              <a:t>24/6/2025</a:t>
            </a:fld>
            <a:endParaRPr lang="es-AR" dirty="0"/>
          </a:p>
        </p:txBody>
      </p:sp>
      <p:sp>
        <p:nvSpPr>
          <p:cNvPr id="3" name="Marcador de pie de página 2">
            <a:extLst>
              <a:ext uri="{FF2B5EF4-FFF2-40B4-BE49-F238E27FC236}">
                <a16:creationId xmlns:a16="http://schemas.microsoft.com/office/drawing/2014/main" id="{E2FCD010-D41C-D067-80DD-3D5EC0A1AEDC}"/>
              </a:ext>
            </a:extLst>
          </p:cNvPr>
          <p:cNvSpPr>
            <a:spLocks noGrp="1"/>
          </p:cNvSpPr>
          <p:nvPr>
            <p:ph type="ftr" sz="quarter" idx="11"/>
          </p:nvPr>
        </p:nvSpPr>
        <p:spPr/>
        <p:txBody>
          <a:bodyPr/>
          <a:lstStyle/>
          <a:p>
            <a:endParaRPr lang="es-AR" dirty="0"/>
          </a:p>
        </p:txBody>
      </p:sp>
      <p:sp>
        <p:nvSpPr>
          <p:cNvPr id="4" name="Marcador de número de diapositiva 3">
            <a:extLst>
              <a:ext uri="{FF2B5EF4-FFF2-40B4-BE49-F238E27FC236}">
                <a16:creationId xmlns:a16="http://schemas.microsoft.com/office/drawing/2014/main" id="{52576F89-286F-3DA4-D0E9-7F531F77FAB3}"/>
              </a:ext>
            </a:extLst>
          </p:cNvPr>
          <p:cNvSpPr>
            <a:spLocks noGrp="1"/>
          </p:cNvSpPr>
          <p:nvPr>
            <p:ph type="sldNum" sz="quarter" idx="12"/>
          </p:nvPr>
        </p:nvSpPr>
        <p:spPr/>
        <p:txBody>
          <a:bodyPr/>
          <a:lstStyle/>
          <a:p>
            <a:fld id="{67C1BA2E-6DB6-4A0D-B15B-7FBBB3819DB4}" type="slidenum">
              <a:rPr lang="es-AR" smtClean="0"/>
              <a:t>‹Nº›</a:t>
            </a:fld>
            <a:endParaRPr lang="es-AR" dirty="0"/>
          </a:p>
        </p:txBody>
      </p:sp>
    </p:spTree>
    <p:extLst>
      <p:ext uri="{BB962C8B-B14F-4D97-AF65-F5344CB8AC3E}">
        <p14:creationId xmlns:p14="http://schemas.microsoft.com/office/powerpoint/2010/main" val="28576351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36B47A-D0B8-AE53-DB28-C802659CA4E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B4A8A71E-F06F-7390-F25D-D0E7DAF8E8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texto 3">
            <a:extLst>
              <a:ext uri="{FF2B5EF4-FFF2-40B4-BE49-F238E27FC236}">
                <a16:creationId xmlns:a16="http://schemas.microsoft.com/office/drawing/2014/main" id="{66E76A9A-26C8-D399-1247-C4C7CD2A45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7B7DE8E-D394-0F4A-3F8B-93D0C7BEA3E7}"/>
              </a:ext>
            </a:extLst>
          </p:cNvPr>
          <p:cNvSpPr>
            <a:spLocks noGrp="1"/>
          </p:cNvSpPr>
          <p:nvPr>
            <p:ph type="dt" sz="half" idx="10"/>
          </p:nvPr>
        </p:nvSpPr>
        <p:spPr/>
        <p:txBody>
          <a:bodyPr/>
          <a:lstStyle/>
          <a:p>
            <a:fld id="{426B9652-4E04-4F9D-97A7-71329306EE7F}" type="datetimeFigureOut">
              <a:rPr lang="es-AR" smtClean="0"/>
              <a:t>24/6/2025</a:t>
            </a:fld>
            <a:endParaRPr lang="es-AR" dirty="0"/>
          </a:p>
        </p:txBody>
      </p:sp>
      <p:sp>
        <p:nvSpPr>
          <p:cNvPr id="6" name="Marcador de pie de página 5">
            <a:extLst>
              <a:ext uri="{FF2B5EF4-FFF2-40B4-BE49-F238E27FC236}">
                <a16:creationId xmlns:a16="http://schemas.microsoft.com/office/drawing/2014/main" id="{1CE132F8-C67D-D6C1-D73B-EDEEFFFB939B}"/>
              </a:ext>
            </a:extLst>
          </p:cNvPr>
          <p:cNvSpPr>
            <a:spLocks noGrp="1"/>
          </p:cNvSpPr>
          <p:nvPr>
            <p:ph type="ftr" sz="quarter" idx="11"/>
          </p:nvPr>
        </p:nvSpPr>
        <p:spPr/>
        <p:txBody>
          <a:bodyPr/>
          <a:lstStyle/>
          <a:p>
            <a:endParaRPr lang="es-AR" dirty="0"/>
          </a:p>
        </p:txBody>
      </p:sp>
      <p:sp>
        <p:nvSpPr>
          <p:cNvPr id="7" name="Marcador de número de diapositiva 6">
            <a:extLst>
              <a:ext uri="{FF2B5EF4-FFF2-40B4-BE49-F238E27FC236}">
                <a16:creationId xmlns:a16="http://schemas.microsoft.com/office/drawing/2014/main" id="{16C027C9-4373-3BA1-D421-94A094BDCBD9}"/>
              </a:ext>
            </a:extLst>
          </p:cNvPr>
          <p:cNvSpPr>
            <a:spLocks noGrp="1"/>
          </p:cNvSpPr>
          <p:nvPr>
            <p:ph type="sldNum" sz="quarter" idx="12"/>
          </p:nvPr>
        </p:nvSpPr>
        <p:spPr/>
        <p:txBody>
          <a:bodyPr/>
          <a:lstStyle/>
          <a:p>
            <a:fld id="{67C1BA2E-6DB6-4A0D-B15B-7FBBB3819DB4}" type="slidenum">
              <a:rPr lang="es-AR" smtClean="0"/>
              <a:t>‹Nº›</a:t>
            </a:fld>
            <a:endParaRPr lang="es-AR" dirty="0"/>
          </a:p>
        </p:txBody>
      </p:sp>
    </p:spTree>
    <p:extLst>
      <p:ext uri="{BB962C8B-B14F-4D97-AF65-F5344CB8AC3E}">
        <p14:creationId xmlns:p14="http://schemas.microsoft.com/office/powerpoint/2010/main" val="41143036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6F6BFD-9E52-C46A-A0C0-4319297B393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posición de imagen 2">
            <a:extLst>
              <a:ext uri="{FF2B5EF4-FFF2-40B4-BE49-F238E27FC236}">
                <a16:creationId xmlns:a16="http://schemas.microsoft.com/office/drawing/2014/main" id="{9F24D09D-A2A9-5AAF-BE5C-F43D05FA34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dirty="0"/>
          </a:p>
        </p:txBody>
      </p:sp>
      <p:sp>
        <p:nvSpPr>
          <p:cNvPr id="4" name="Marcador de texto 3">
            <a:extLst>
              <a:ext uri="{FF2B5EF4-FFF2-40B4-BE49-F238E27FC236}">
                <a16:creationId xmlns:a16="http://schemas.microsoft.com/office/drawing/2014/main" id="{30790274-4128-0306-FD46-6EAC7D03CE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D00A92B-BDBD-278E-884B-3C2066BEC200}"/>
              </a:ext>
            </a:extLst>
          </p:cNvPr>
          <p:cNvSpPr>
            <a:spLocks noGrp="1"/>
          </p:cNvSpPr>
          <p:nvPr>
            <p:ph type="dt" sz="half" idx="10"/>
          </p:nvPr>
        </p:nvSpPr>
        <p:spPr/>
        <p:txBody>
          <a:bodyPr/>
          <a:lstStyle/>
          <a:p>
            <a:fld id="{426B9652-4E04-4F9D-97A7-71329306EE7F}" type="datetimeFigureOut">
              <a:rPr lang="es-AR" smtClean="0"/>
              <a:t>24/6/2025</a:t>
            </a:fld>
            <a:endParaRPr lang="es-AR" dirty="0"/>
          </a:p>
        </p:txBody>
      </p:sp>
      <p:sp>
        <p:nvSpPr>
          <p:cNvPr id="6" name="Marcador de pie de página 5">
            <a:extLst>
              <a:ext uri="{FF2B5EF4-FFF2-40B4-BE49-F238E27FC236}">
                <a16:creationId xmlns:a16="http://schemas.microsoft.com/office/drawing/2014/main" id="{2A42D9D5-BD95-FFCF-0439-B74788C75EDC}"/>
              </a:ext>
            </a:extLst>
          </p:cNvPr>
          <p:cNvSpPr>
            <a:spLocks noGrp="1"/>
          </p:cNvSpPr>
          <p:nvPr>
            <p:ph type="ftr" sz="quarter" idx="11"/>
          </p:nvPr>
        </p:nvSpPr>
        <p:spPr/>
        <p:txBody>
          <a:bodyPr/>
          <a:lstStyle/>
          <a:p>
            <a:endParaRPr lang="es-AR" dirty="0"/>
          </a:p>
        </p:txBody>
      </p:sp>
      <p:sp>
        <p:nvSpPr>
          <p:cNvPr id="7" name="Marcador de número de diapositiva 6">
            <a:extLst>
              <a:ext uri="{FF2B5EF4-FFF2-40B4-BE49-F238E27FC236}">
                <a16:creationId xmlns:a16="http://schemas.microsoft.com/office/drawing/2014/main" id="{6ABFFE8C-E849-A636-F7B7-FC4FE43A8C5E}"/>
              </a:ext>
            </a:extLst>
          </p:cNvPr>
          <p:cNvSpPr>
            <a:spLocks noGrp="1"/>
          </p:cNvSpPr>
          <p:nvPr>
            <p:ph type="sldNum" sz="quarter" idx="12"/>
          </p:nvPr>
        </p:nvSpPr>
        <p:spPr/>
        <p:txBody>
          <a:bodyPr/>
          <a:lstStyle/>
          <a:p>
            <a:fld id="{67C1BA2E-6DB6-4A0D-B15B-7FBBB3819DB4}" type="slidenum">
              <a:rPr lang="es-AR" smtClean="0"/>
              <a:t>‹Nº›</a:t>
            </a:fld>
            <a:endParaRPr lang="es-AR" dirty="0"/>
          </a:p>
        </p:txBody>
      </p:sp>
    </p:spTree>
    <p:extLst>
      <p:ext uri="{BB962C8B-B14F-4D97-AF65-F5344CB8AC3E}">
        <p14:creationId xmlns:p14="http://schemas.microsoft.com/office/powerpoint/2010/main" val="466487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FB65C3-3F43-4130-6E1A-7DDB678A6F0B}"/>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B821CCA3-C624-047C-0473-00F03D306B4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B38143A9-7535-6329-611D-3C05B3EB5773}"/>
              </a:ext>
            </a:extLst>
          </p:cNvPr>
          <p:cNvSpPr>
            <a:spLocks noGrp="1"/>
          </p:cNvSpPr>
          <p:nvPr>
            <p:ph type="dt" sz="half" idx="10"/>
          </p:nvPr>
        </p:nvSpPr>
        <p:spPr/>
        <p:txBody>
          <a:bodyPr/>
          <a:lstStyle/>
          <a:p>
            <a:fld id="{426B9652-4E04-4F9D-97A7-71329306EE7F}" type="datetimeFigureOut">
              <a:rPr lang="es-AR" smtClean="0"/>
              <a:t>24/6/2025</a:t>
            </a:fld>
            <a:endParaRPr lang="es-AR" dirty="0"/>
          </a:p>
        </p:txBody>
      </p:sp>
      <p:sp>
        <p:nvSpPr>
          <p:cNvPr id="5" name="Marcador de pie de página 4">
            <a:extLst>
              <a:ext uri="{FF2B5EF4-FFF2-40B4-BE49-F238E27FC236}">
                <a16:creationId xmlns:a16="http://schemas.microsoft.com/office/drawing/2014/main" id="{F788E3C2-46B5-C3CF-7CDE-C9A7DA9D3A48}"/>
              </a:ext>
            </a:extLst>
          </p:cNvPr>
          <p:cNvSpPr>
            <a:spLocks noGrp="1"/>
          </p:cNvSpPr>
          <p:nvPr>
            <p:ph type="ftr" sz="quarter" idx="11"/>
          </p:nvPr>
        </p:nvSpPr>
        <p:spPr/>
        <p:txBody>
          <a:bodyPr/>
          <a:lstStyle/>
          <a:p>
            <a:endParaRPr lang="es-AR" dirty="0"/>
          </a:p>
        </p:txBody>
      </p:sp>
      <p:sp>
        <p:nvSpPr>
          <p:cNvPr id="6" name="Marcador de número de diapositiva 5">
            <a:extLst>
              <a:ext uri="{FF2B5EF4-FFF2-40B4-BE49-F238E27FC236}">
                <a16:creationId xmlns:a16="http://schemas.microsoft.com/office/drawing/2014/main" id="{445089BC-B364-CEC2-C03C-687BAB886945}"/>
              </a:ext>
            </a:extLst>
          </p:cNvPr>
          <p:cNvSpPr>
            <a:spLocks noGrp="1"/>
          </p:cNvSpPr>
          <p:nvPr>
            <p:ph type="sldNum" sz="quarter" idx="12"/>
          </p:nvPr>
        </p:nvSpPr>
        <p:spPr/>
        <p:txBody>
          <a:bodyPr/>
          <a:lstStyle/>
          <a:p>
            <a:fld id="{67C1BA2E-6DB6-4A0D-B15B-7FBBB3819DB4}" type="slidenum">
              <a:rPr lang="es-AR" smtClean="0"/>
              <a:t>‹Nº›</a:t>
            </a:fld>
            <a:endParaRPr lang="es-AR" dirty="0"/>
          </a:p>
        </p:txBody>
      </p:sp>
    </p:spTree>
    <p:extLst>
      <p:ext uri="{BB962C8B-B14F-4D97-AF65-F5344CB8AC3E}">
        <p14:creationId xmlns:p14="http://schemas.microsoft.com/office/powerpoint/2010/main" val="3722187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6F8ED7F-B3FE-7079-7792-2B201561A99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D9E47D6F-A9CE-A7D3-1CE4-874A1500D63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269D01EE-802E-79BF-DE60-135A67930049}"/>
              </a:ext>
            </a:extLst>
          </p:cNvPr>
          <p:cNvSpPr>
            <a:spLocks noGrp="1"/>
          </p:cNvSpPr>
          <p:nvPr>
            <p:ph type="dt" sz="half" idx="10"/>
          </p:nvPr>
        </p:nvSpPr>
        <p:spPr/>
        <p:txBody>
          <a:bodyPr/>
          <a:lstStyle/>
          <a:p>
            <a:fld id="{426B9652-4E04-4F9D-97A7-71329306EE7F}" type="datetimeFigureOut">
              <a:rPr lang="es-AR" smtClean="0"/>
              <a:t>24/6/2025</a:t>
            </a:fld>
            <a:endParaRPr lang="es-AR" dirty="0"/>
          </a:p>
        </p:txBody>
      </p:sp>
      <p:sp>
        <p:nvSpPr>
          <p:cNvPr id="5" name="Marcador de pie de página 4">
            <a:extLst>
              <a:ext uri="{FF2B5EF4-FFF2-40B4-BE49-F238E27FC236}">
                <a16:creationId xmlns:a16="http://schemas.microsoft.com/office/drawing/2014/main" id="{3CE2E432-CCE1-8039-D1BB-95DE3E481DE8}"/>
              </a:ext>
            </a:extLst>
          </p:cNvPr>
          <p:cNvSpPr>
            <a:spLocks noGrp="1"/>
          </p:cNvSpPr>
          <p:nvPr>
            <p:ph type="ftr" sz="quarter" idx="11"/>
          </p:nvPr>
        </p:nvSpPr>
        <p:spPr/>
        <p:txBody>
          <a:bodyPr/>
          <a:lstStyle/>
          <a:p>
            <a:endParaRPr lang="es-AR" dirty="0"/>
          </a:p>
        </p:txBody>
      </p:sp>
      <p:sp>
        <p:nvSpPr>
          <p:cNvPr id="6" name="Marcador de número de diapositiva 5">
            <a:extLst>
              <a:ext uri="{FF2B5EF4-FFF2-40B4-BE49-F238E27FC236}">
                <a16:creationId xmlns:a16="http://schemas.microsoft.com/office/drawing/2014/main" id="{0FB2C077-B3AE-951A-A877-FDBBEA1AE096}"/>
              </a:ext>
            </a:extLst>
          </p:cNvPr>
          <p:cNvSpPr>
            <a:spLocks noGrp="1"/>
          </p:cNvSpPr>
          <p:nvPr>
            <p:ph type="sldNum" sz="quarter" idx="12"/>
          </p:nvPr>
        </p:nvSpPr>
        <p:spPr/>
        <p:txBody>
          <a:bodyPr/>
          <a:lstStyle/>
          <a:p>
            <a:fld id="{67C1BA2E-6DB6-4A0D-B15B-7FBBB3819DB4}" type="slidenum">
              <a:rPr lang="es-AR" smtClean="0"/>
              <a:t>‹Nº›</a:t>
            </a:fld>
            <a:endParaRPr lang="es-AR" dirty="0"/>
          </a:p>
        </p:txBody>
      </p:sp>
    </p:spTree>
    <p:extLst>
      <p:ext uri="{BB962C8B-B14F-4D97-AF65-F5344CB8AC3E}">
        <p14:creationId xmlns:p14="http://schemas.microsoft.com/office/powerpoint/2010/main" val="1727003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2BC5587A-4B00-6D3D-9C0B-5641988722A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9BCDB98D-F2C6-4A9D-2B84-FE891B1C00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FC9BBFB0-80AF-2D6F-34E6-AA079E80DE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26B9652-4E04-4F9D-97A7-71329306EE7F}" type="datetimeFigureOut">
              <a:rPr lang="es-AR" smtClean="0"/>
              <a:t>24/6/2025</a:t>
            </a:fld>
            <a:endParaRPr lang="es-AR" dirty="0"/>
          </a:p>
        </p:txBody>
      </p:sp>
      <p:sp>
        <p:nvSpPr>
          <p:cNvPr id="5" name="Marcador de pie de página 4">
            <a:extLst>
              <a:ext uri="{FF2B5EF4-FFF2-40B4-BE49-F238E27FC236}">
                <a16:creationId xmlns:a16="http://schemas.microsoft.com/office/drawing/2014/main" id="{8977C649-1703-0AF7-E2AF-0A3D4237AA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AR" dirty="0"/>
          </a:p>
        </p:txBody>
      </p:sp>
      <p:sp>
        <p:nvSpPr>
          <p:cNvPr id="6" name="Marcador de número de diapositiva 5">
            <a:extLst>
              <a:ext uri="{FF2B5EF4-FFF2-40B4-BE49-F238E27FC236}">
                <a16:creationId xmlns:a16="http://schemas.microsoft.com/office/drawing/2014/main" id="{6510BB5C-ED8A-548A-BC84-3C0D543AEF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7C1BA2E-6DB6-4A0D-B15B-7FBBB3819DB4}" type="slidenum">
              <a:rPr lang="es-AR" smtClean="0"/>
              <a:t>‹Nº›</a:t>
            </a:fld>
            <a:endParaRPr lang="es-AR" dirty="0"/>
          </a:p>
        </p:txBody>
      </p:sp>
    </p:spTree>
    <p:extLst>
      <p:ext uri="{BB962C8B-B14F-4D97-AF65-F5344CB8AC3E}">
        <p14:creationId xmlns:p14="http://schemas.microsoft.com/office/powerpoint/2010/main" val="19172794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6F996206-7D00-1137-EBF7-2A6E94E73EC9}"/>
              </a:ext>
            </a:extLst>
          </p:cNvPr>
          <p:cNvSpPr>
            <a:spLocks noGrp="1"/>
          </p:cNvSpPr>
          <p:nvPr>
            <p:ph type="title"/>
          </p:nvPr>
        </p:nvSpPr>
        <p:spPr>
          <a:xfrm>
            <a:off x="3826042" y="667687"/>
            <a:ext cx="7892716" cy="2014086"/>
          </a:xfrm>
        </p:spPr>
        <p:txBody>
          <a:bodyPr vert="horz" lIns="91440" tIns="45720" rIns="91440" bIns="45720" rtlCol="0" anchor="t">
            <a:normAutofit fontScale="90000"/>
          </a:bodyPr>
          <a:lstStyle/>
          <a:p>
            <a:pPr algn="ctr"/>
            <a:r>
              <a:rPr lang="en-US" b="1" dirty="0"/>
              <a:t>CoderHouse - Proyecto Final </a:t>
            </a:r>
            <a:br>
              <a:rPr lang="en-US" b="1" dirty="0"/>
            </a:br>
            <a:r>
              <a:rPr lang="en-US" b="1" dirty="0"/>
              <a:t>Data Science III: </a:t>
            </a:r>
            <a:br>
              <a:rPr lang="en-US" b="1" dirty="0"/>
            </a:br>
            <a:r>
              <a:rPr lang="en-US" b="1" dirty="0"/>
              <a:t>NLP &amp; Deep Learning</a:t>
            </a:r>
            <a:br>
              <a:rPr lang="en-US" b="1" dirty="0"/>
            </a:br>
            <a:br>
              <a:rPr lang="en-US" b="1" dirty="0"/>
            </a:br>
            <a:endParaRPr lang="en-US" b="1" dirty="0"/>
          </a:p>
        </p:txBody>
      </p:sp>
      <p:pic>
        <p:nvPicPr>
          <p:cNvPr id="5" name="Marcador de contenido 4" descr="Las burbujas de comunicación rojas con espacio de copia están conectadas entre sí con flechas negras. Esta imagen muestra las redes sociales y la comunicación en línea entre las personas.">
            <a:extLst>
              <a:ext uri="{FF2B5EF4-FFF2-40B4-BE49-F238E27FC236}">
                <a16:creationId xmlns:a16="http://schemas.microsoft.com/office/drawing/2014/main" id="{95D67A3F-8FFD-435B-8718-AF9182A42756}"/>
              </a:ext>
            </a:extLst>
          </p:cNvPr>
          <p:cNvPicPr>
            <a:picLocks noGrp="1" noChangeAspect="1"/>
          </p:cNvPicPr>
          <p:nvPr>
            <p:ph sz="half" idx="1"/>
          </p:nvPr>
        </p:nvPicPr>
        <p:blipFill>
          <a:blip r:embed="rId3"/>
          <a:stretch>
            <a:fillRect/>
          </a:stretch>
        </p:blipFill>
        <p:spPr>
          <a:xfrm>
            <a:off x="473242" y="945624"/>
            <a:ext cx="4014537" cy="4966751"/>
          </a:xfrm>
          <a:prstGeom prst="rect">
            <a:avLst/>
          </a:prstGeom>
        </p:spPr>
      </p:pic>
      <p:sp>
        <p:nvSpPr>
          <p:cNvPr id="9" name="CuadroTexto 8">
            <a:extLst>
              <a:ext uri="{FF2B5EF4-FFF2-40B4-BE49-F238E27FC236}">
                <a16:creationId xmlns:a16="http://schemas.microsoft.com/office/drawing/2014/main" id="{89D7C5DB-EE6B-5457-9F81-F6F292FFFCB4}"/>
              </a:ext>
            </a:extLst>
          </p:cNvPr>
          <p:cNvSpPr txBox="1"/>
          <p:nvPr/>
        </p:nvSpPr>
        <p:spPr>
          <a:xfrm>
            <a:off x="5146506" y="2813447"/>
            <a:ext cx="5251785" cy="1231106"/>
          </a:xfrm>
          <a:prstGeom prst="rect">
            <a:avLst/>
          </a:prstGeom>
          <a:noFill/>
        </p:spPr>
        <p:txBody>
          <a:bodyPr wrap="square" rtlCol="0">
            <a:spAutoFit/>
          </a:bodyPr>
          <a:lstStyle/>
          <a:p>
            <a:r>
              <a:rPr lang="en-US" sz="2800" b="1" dirty="0"/>
              <a:t>Comision 77865</a:t>
            </a:r>
          </a:p>
          <a:p>
            <a:r>
              <a:rPr lang="es-AR" sz="2800" b="1" dirty="0"/>
              <a:t>Alumno: Agüero García Josias</a:t>
            </a:r>
          </a:p>
          <a:p>
            <a:endParaRPr lang="es-AR" dirty="0"/>
          </a:p>
        </p:txBody>
      </p:sp>
      <p:pic>
        <p:nvPicPr>
          <p:cNvPr id="12" name="Imagen 11" descr="Imagen que contiene vajilla, plato, dibujo">
            <a:extLst>
              <a:ext uri="{FF2B5EF4-FFF2-40B4-BE49-F238E27FC236}">
                <a16:creationId xmlns:a16="http://schemas.microsoft.com/office/drawing/2014/main" id="{698C7423-57E4-AAA9-09F1-4ECDDA809A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61275" y="4307902"/>
            <a:ext cx="5757228" cy="1604473"/>
          </a:xfrm>
          <a:prstGeom prst="rect">
            <a:avLst/>
          </a:prstGeom>
        </p:spPr>
      </p:pic>
    </p:spTree>
    <p:extLst>
      <p:ext uri="{BB962C8B-B14F-4D97-AF65-F5344CB8AC3E}">
        <p14:creationId xmlns:p14="http://schemas.microsoft.com/office/powerpoint/2010/main" val="1007492113"/>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25C70A0A-FFEE-DB8C-C152-DAC3972984AF}"/>
              </a:ext>
            </a:extLst>
          </p:cNvPr>
          <p:cNvSpPr>
            <a:spLocks noGrp="1"/>
          </p:cNvSpPr>
          <p:nvPr>
            <p:ph type="title"/>
          </p:nvPr>
        </p:nvSpPr>
        <p:spPr>
          <a:xfrm>
            <a:off x="614679" y="548640"/>
            <a:ext cx="4779572" cy="2067705"/>
          </a:xfrm>
        </p:spPr>
        <p:txBody>
          <a:bodyPr vert="horz" lIns="91440" tIns="45720" rIns="91440" bIns="45720" rtlCol="0" anchor="t">
            <a:normAutofit/>
          </a:bodyPr>
          <a:lstStyle/>
          <a:p>
            <a:pPr algn="ctr"/>
            <a:r>
              <a:rPr lang="en-US" sz="3600" b="1" kern="1200" dirty="0">
                <a:solidFill>
                  <a:schemeClr val="tx1"/>
                </a:solidFill>
                <a:latin typeface="+mj-lt"/>
                <a:ea typeface="+mj-ea"/>
                <a:cs typeface="+mj-cs"/>
              </a:rPr>
              <a:t>Análisis de Tweets en Español</a:t>
            </a:r>
          </a:p>
        </p:txBody>
      </p:sp>
      <p:pic>
        <p:nvPicPr>
          <p:cNvPr id="5" name="Marcador de contenido 4" descr="La ilustración de círculos vinculados representa a las personas en la red social.">
            <a:extLst>
              <a:ext uri="{FF2B5EF4-FFF2-40B4-BE49-F238E27FC236}">
                <a16:creationId xmlns:a16="http://schemas.microsoft.com/office/drawing/2014/main" id="{300DBE0F-D43D-4693-92E1-98669D4D0492}"/>
              </a:ext>
            </a:extLst>
          </p:cNvPr>
          <p:cNvPicPr>
            <a:picLocks noGrp="1" noChangeAspect="1"/>
          </p:cNvPicPr>
          <p:nvPr>
            <p:ph sz="half" idx="1"/>
          </p:nvPr>
        </p:nvPicPr>
        <p:blipFill>
          <a:blip r:embed="rId3"/>
          <a:srcRect r="7796" b="2"/>
          <a:stretch>
            <a:fillRect/>
          </a:stretch>
        </p:blipFill>
        <p:spPr>
          <a:xfrm>
            <a:off x="614679" y="2329543"/>
            <a:ext cx="4790595" cy="3979815"/>
          </a:xfrm>
          <a:prstGeom prst="rect">
            <a:avLst/>
          </a:prstGeom>
        </p:spPr>
      </p:pic>
      <p:sp>
        <p:nvSpPr>
          <p:cNvPr id="4" name="Marcador de contenido 3">
            <a:extLst>
              <a:ext uri="{FF2B5EF4-FFF2-40B4-BE49-F238E27FC236}">
                <a16:creationId xmlns:a16="http://schemas.microsoft.com/office/drawing/2014/main" id="{02CCE015-5C13-7F0D-6F3D-798963E5AAB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30551" y="548638"/>
            <a:ext cx="5546770" cy="5760721"/>
          </a:xfrm>
        </p:spPr>
        <p:txBody>
          <a:bodyPr>
            <a:normAutofit/>
          </a:bodyPr>
          <a:lstStyle/>
          <a:p>
            <a:pPr marL="0" indent="0">
              <a:spcBef>
                <a:spcPts val="2500"/>
              </a:spcBef>
              <a:buNone/>
            </a:pPr>
            <a:r>
              <a:rPr lang="es-AR" sz="1800" b="1" dirty="0"/>
              <a:t>Preprocesamiento de Tweets</a:t>
            </a:r>
          </a:p>
          <a:p>
            <a:pPr marL="0" lvl="1" indent="0">
              <a:buNone/>
            </a:pPr>
            <a:r>
              <a:rPr lang="es-AR" sz="1800" dirty="0"/>
              <a:t>El preprocesamiento de los tweets incluyó tokenización, lematización, remoción de stopwords y etiquetado de partes del discurso.</a:t>
            </a:r>
          </a:p>
          <a:p>
            <a:pPr marL="0" indent="0">
              <a:spcBef>
                <a:spcPts val="2500"/>
              </a:spcBef>
              <a:buNone/>
            </a:pPr>
            <a:r>
              <a:rPr lang="es-AR" sz="1800" b="1" dirty="0"/>
              <a:t>Transformación Numérica</a:t>
            </a:r>
          </a:p>
          <a:p>
            <a:pPr marL="0" lvl="1" indent="0">
              <a:buNone/>
            </a:pPr>
            <a:r>
              <a:rPr lang="es-AR" sz="1800" dirty="0"/>
              <a:t>Los textos de los tweets fueron transformados en secuencias numéricas para facilitar el análisis y el entrenamiento de la red neuronal.</a:t>
            </a:r>
          </a:p>
          <a:p>
            <a:pPr marL="0" indent="0">
              <a:spcBef>
                <a:spcPts val="2500"/>
              </a:spcBef>
              <a:buNone/>
            </a:pPr>
            <a:r>
              <a:rPr lang="es-AR" sz="1800" b="1" dirty="0"/>
              <a:t>Entrenamiento de Red Neuronal</a:t>
            </a:r>
          </a:p>
          <a:p>
            <a:pPr marL="0" lvl="1" indent="0">
              <a:buNone/>
            </a:pPr>
            <a:r>
              <a:rPr lang="es-AR" sz="1800" dirty="0"/>
              <a:t>Se entrenó una red neuronal, probando mejoras agregando capas y neuronas para obtener resultados más precisos.</a:t>
            </a:r>
          </a:p>
          <a:p>
            <a:pPr marL="0" indent="0">
              <a:spcBef>
                <a:spcPts val="2500"/>
              </a:spcBef>
              <a:buNone/>
            </a:pPr>
            <a:r>
              <a:rPr lang="es-AR" sz="1800" b="1" dirty="0"/>
              <a:t>Comparación de Resultados</a:t>
            </a:r>
          </a:p>
          <a:p>
            <a:pPr marL="0" lvl="1" indent="0">
              <a:buNone/>
            </a:pPr>
            <a:r>
              <a:rPr lang="es-AR" sz="1800" dirty="0"/>
              <a:t>Finalmente, se compararon los resultados obtenidos para evaluar la efectividad de los distintos modelos y configuraciones.</a:t>
            </a:r>
          </a:p>
        </p:txBody>
      </p:sp>
    </p:spTree>
    <p:extLst>
      <p:ext uri="{BB962C8B-B14F-4D97-AF65-F5344CB8AC3E}">
        <p14:creationId xmlns:p14="http://schemas.microsoft.com/office/powerpoint/2010/main" val="236326222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CAA22536-E618-4811-3B19-D98C3861EC9F}"/>
              </a:ext>
            </a:extLst>
          </p:cNvPr>
          <p:cNvSpPr>
            <a:spLocks noGrp="1"/>
          </p:cNvSpPr>
          <p:nvPr>
            <p:ph type="title"/>
          </p:nvPr>
        </p:nvSpPr>
        <p:spPr>
          <a:xfrm>
            <a:off x="662959" y="909461"/>
            <a:ext cx="5557366" cy="732560"/>
          </a:xfrm>
        </p:spPr>
        <p:txBody>
          <a:bodyPr vert="horz" lIns="91440" tIns="45720" rIns="91440" bIns="45720" rtlCol="0" anchor="b">
            <a:normAutofit/>
          </a:bodyPr>
          <a:lstStyle/>
          <a:p>
            <a:pPr algn="ctr"/>
            <a:r>
              <a:rPr lang="en-US" sz="3600" b="1" kern="1200" dirty="0">
                <a:solidFill>
                  <a:schemeClr val="tx1"/>
                </a:solidFill>
                <a:latin typeface="+mj-lt"/>
                <a:ea typeface="+mj-ea"/>
                <a:cs typeface="+mj-cs"/>
              </a:rPr>
              <a:t>Pre procesamiento de texto</a:t>
            </a:r>
          </a:p>
        </p:txBody>
      </p:sp>
      <p:sp>
        <p:nvSpPr>
          <p:cNvPr id="4" name="Marcador de contenido 3">
            <a:extLst>
              <a:ext uri="{FF2B5EF4-FFF2-40B4-BE49-F238E27FC236}">
                <a16:creationId xmlns:a16="http://schemas.microsoft.com/office/drawing/2014/main" id="{2A5AF3A2-EA88-9535-6586-F83C1E2803E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8" y="2261937"/>
            <a:ext cx="5483352" cy="3481139"/>
          </a:xfrm>
        </p:spPr>
        <p:txBody>
          <a:bodyPr>
            <a:normAutofit/>
          </a:bodyPr>
          <a:lstStyle/>
          <a:p>
            <a:r>
              <a:rPr lang="es-AR" sz="1800" b="1" dirty="0"/>
              <a:t>Realicé varias etapas de preprocesamiento para dejar los textos limpios y analizables:</a:t>
            </a:r>
            <a:endParaRPr lang="es-AR" sz="1800" dirty="0"/>
          </a:p>
          <a:p>
            <a:r>
              <a:rPr lang="es-AR" sz="1800" b="1" dirty="0"/>
              <a:t>Tokenicé</a:t>
            </a:r>
            <a:r>
              <a:rPr lang="es-AR" sz="1800" dirty="0"/>
              <a:t> cada tweet (lo corté en palabras/tokens).</a:t>
            </a:r>
          </a:p>
          <a:p>
            <a:r>
              <a:rPr lang="es-AR" sz="1800" b="1" dirty="0"/>
              <a:t>Normalicé</a:t>
            </a:r>
            <a:r>
              <a:rPr lang="es-AR" sz="1800" dirty="0"/>
              <a:t> los textos: todo en minúsculas, eliminación de caracteres extraños y signos de puntuación.</a:t>
            </a:r>
          </a:p>
          <a:p>
            <a:r>
              <a:rPr lang="es-AR" sz="1800" b="1" dirty="0"/>
              <a:t>Removí stopwords</a:t>
            </a:r>
            <a:r>
              <a:rPr lang="es-AR" sz="1800" dirty="0"/>
              <a:t> (palabras muy frecuentes y poco informativas, como “el”, “la”, “y”).</a:t>
            </a:r>
          </a:p>
          <a:p>
            <a:r>
              <a:rPr lang="es-AR" sz="1800" b="1" dirty="0"/>
              <a:t>Verifiqué el encoding y el idioma</a:t>
            </a:r>
            <a:r>
              <a:rPr lang="es-AR" sz="1800" dirty="0"/>
              <a:t> para asegurar que todos los textos fueran válidos y estuvieran en español.</a:t>
            </a:r>
          </a:p>
        </p:txBody>
      </p:sp>
      <p:pic>
        <p:nvPicPr>
          <p:cNvPr id="5" name="Marcador de contenido 4" descr="Imágenes similares de rompecabezas, trabajo en equipo, conexión, rompecabezas, solución, cooperación:">
            <a:extLst>
              <a:ext uri="{FF2B5EF4-FFF2-40B4-BE49-F238E27FC236}">
                <a16:creationId xmlns:a16="http://schemas.microsoft.com/office/drawing/2014/main" id="{7F35D82F-7AB7-41EE-ADA3-44DE208DB003}"/>
              </a:ext>
            </a:extLst>
          </p:cNvPr>
          <p:cNvPicPr>
            <a:picLocks noGrp="1" noChangeAspect="1"/>
          </p:cNvPicPr>
          <p:nvPr>
            <p:ph sz="half" idx="1"/>
          </p:nvPr>
        </p:nvPicPr>
        <p:blipFill>
          <a:blip r:embed="rId3"/>
          <a:stretch>
            <a:fillRect/>
          </a:stretch>
        </p:blipFill>
        <p:spPr>
          <a:xfrm>
            <a:off x="6220325" y="1239832"/>
            <a:ext cx="5308715" cy="4378335"/>
          </a:xfrm>
          <a:prstGeom prst="rect">
            <a:avLst/>
          </a:prstGeom>
        </p:spPr>
      </p:pic>
    </p:spTree>
    <p:extLst>
      <p:ext uri="{BB962C8B-B14F-4D97-AF65-F5344CB8AC3E}">
        <p14:creationId xmlns:p14="http://schemas.microsoft.com/office/powerpoint/2010/main" val="414782001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40DE37CF-B821-9F70-E3FF-DA92A36ADA92}"/>
              </a:ext>
            </a:extLst>
          </p:cNvPr>
          <p:cNvSpPr>
            <a:spLocks noGrp="1"/>
          </p:cNvSpPr>
          <p:nvPr>
            <p:ph type="title"/>
          </p:nvPr>
        </p:nvSpPr>
        <p:spPr>
          <a:xfrm>
            <a:off x="2481045" y="548644"/>
            <a:ext cx="7229910" cy="847020"/>
          </a:xfrm>
        </p:spPr>
        <p:txBody>
          <a:bodyPr vert="horz" lIns="91440" tIns="45720" rIns="91440" bIns="45720" rtlCol="0" anchor="t">
            <a:normAutofit/>
          </a:bodyPr>
          <a:lstStyle/>
          <a:p>
            <a:pPr algn="ctr"/>
            <a:r>
              <a:rPr lang="en-US" sz="3600" b="1" kern="1200" dirty="0">
                <a:solidFill>
                  <a:schemeClr val="tx1"/>
                </a:solidFill>
                <a:latin typeface="+mj-lt"/>
                <a:ea typeface="+mj-ea"/>
                <a:cs typeface="+mj-cs"/>
              </a:rPr>
              <a:t>Análisis Exploratorio de Tweets</a:t>
            </a:r>
          </a:p>
        </p:txBody>
      </p:sp>
      <p:pic>
        <p:nvPicPr>
          <p:cNvPr id="5" name="Marcador de contenido 4" descr="Foto de un hombre de negocios mirando pensativamente un gráfico sobre un fondo blanco">
            <a:extLst>
              <a:ext uri="{FF2B5EF4-FFF2-40B4-BE49-F238E27FC236}">
                <a16:creationId xmlns:a16="http://schemas.microsoft.com/office/drawing/2014/main" id="{225A556C-7FD0-4013-BBC7-1D8A185719A4}"/>
              </a:ext>
            </a:extLst>
          </p:cNvPr>
          <p:cNvPicPr>
            <a:picLocks noGrp="1" noChangeAspect="1"/>
          </p:cNvPicPr>
          <p:nvPr>
            <p:ph sz="half" idx="1"/>
          </p:nvPr>
        </p:nvPicPr>
        <p:blipFill>
          <a:blip r:embed="rId3"/>
          <a:stretch>
            <a:fillRect/>
          </a:stretch>
        </p:blipFill>
        <p:spPr>
          <a:xfrm>
            <a:off x="731520" y="2394284"/>
            <a:ext cx="4673754" cy="3915073"/>
          </a:xfrm>
          <a:prstGeom prst="rect">
            <a:avLst/>
          </a:prstGeom>
        </p:spPr>
      </p:pic>
      <p:sp>
        <p:nvSpPr>
          <p:cNvPr id="12" name="Rectangle 5">
            <a:extLst>
              <a:ext uri="{FF2B5EF4-FFF2-40B4-BE49-F238E27FC236}">
                <a16:creationId xmlns:a16="http://schemas.microsoft.com/office/drawing/2014/main" id="{A3FF06B3-5E91-7BD0-0DE8-D7B52422DFA6}"/>
              </a:ext>
            </a:extLst>
          </p:cNvPr>
          <p:cNvSpPr>
            <a:spLocks noChangeArrowheads="1"/>
          </p:cNvSpPr>
          <p:nvPr/>
        </p:nvSpPr>
        <p:spPr bwMode="auto">
          <a:xfrm>
            <a:off x="5511092" y="1756611"/>
            <a:ext cx="6196643" cy="4307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b="1" i="0" u="none" strike="noStrike" cap="none" normalizeH="0" baseline="0" dirty="0">
                <a:ln>
                  <a:noFill/>
                </a:ln>
                <a:solidFill>
                  <a:schemeClr val="tx1"/>
                </a:solidFill>
                <a:effectLst/>
              </a:rPr>
              <a:t>Realicé análisis estadístico y visualizaciones básicas sobre los tweets: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20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2000" i="0" u="none" strike="noStrike" cap="none" normalizeH="0" baseline="0" dirty="0">
                <a:ln>
                  <a:noFill/>
                </a:ln>
                <a:solidFill>
                  <a:schemeClr val="tx1"/>
                </a:solidFill>
                <a:effectLst/>
              </a:rPr>
              <a:t>Conté la cantidad de tweets, palabras y oraciones.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2000" i="0" u="none" strike="noStrike" cap="none" normalizeH="0" baseline="0" dirty="0">
                <a:ln>
                  <a:noFill/>
                </a:ln>
                <a:solidFill>
                  <a:schemeClr val="tx1"/>
                </a:solidFill>
                <a:effectLst/>
              </a:rPr>
              <a:t>Graficé la distribución de longitudes y las palabras más frecuentes.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2000" i="0" u="none" strike="noStrike" cap="none" normalizeH="0" baseline="0" dirty="0">
                <a:ln>
                  <a:noFill/>
                </a:ln>
                <a:solidFill>
                  <a:schemeClr val="tx1"/>
                </a:solidFill>
                <a:effectLst/>
              </a:rPr>
              <a:t>Exploré las clases (partidos políticos) para ver cómo estaban representadas.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2000" i="0" u="none" strike="noStrike" cap="none" normalizeH="0" baseline="0" dirty="0">
                <a:ln>
                  <a:noFill/>
                </a:ln>
                <a:solidFill>
                  <a:schemeClr val="tx1"/>
                </a:solidFill>
                <a:effectLst/>
              </a:rPr>
              <a:t>Esto me permitió identificar posibles desbalances y entender la dificultad del problema.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2095570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3E7F5B77-57BC-5980-4368-5B3A00823A1E}"/>
              </a:ext>
            </a:extLst>
          </p:cNvPr>
          <p:cNvSpPr>
            <a:spLocks noGrp="1"/>
          </p:cNvSpPr>
          <p:nvPr>
            <p:ph type="title"/>
          </p:nvPr>
        </p:nvSpPr>
        <p:spPr>
          <a:xfrm>
            <a:off x="463038" y="410517"/>
            <a:ext cx="6209257" cy="695907"/>
          </a:xfrm>
        </p:spPr>
        <p:txBody>
          <a:bodyPr vert="horz" lIns="91440" tIns="45720" rIns="91440" bIns="45720" rtlCol="0" anchor="b">
            <a:normAutofit fontScale="90000"/>
          </a:bodyPr>
          <a:lstStyle/>
          <a:p>
            <a:pPr algn="ctr"/>
            <a:r>
              <a:rPr lang="en-US" sz="3600" b="1" kern="1200" dirty="0">
                <a:solidFill>
                  <a:schemeClr val="tx1"/>
                </a:solidFill>
                <a:latin typeface="+mj-lt"/>
                <a:ea typeface="+mj-ea"/>
                <a:cs typeface="+mj-cs"/>
              </a:rPr>
              <a:t>Preparación para Deep Learning</a:t>
            </a:r>
          </a:p>
        </p:txBody>
      </p:sp>
      <p:sp>
        <p:nvSpPr>
          <p:cNvPr id="4" name="Marcador de contenido 3">
            <a:extLst>
              <a:ext uri="{FF2B5EF4-FFF2-40B4-BE49-F238E27FC236}">
                <a16:creationId xmlns:a16="http://schemas.microsoft.com/office/drawing/2014/main" id="{66C733FA-A62E-06C2-2E04-E8F0E5EF9AD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63037" y="1516941"/>
            <a:ext cx="6209257" cy="4835091"/>
          </a:xfrm>
        </p:spPr>
        <p:txBody>
          <a:bodyPr>
            <a:normAutofit/>
          </a:bodyPr>
          <a:lstStyle/>
          <a:p>
            <a:pPr marL="0" indent="0" algn="just">
              <a:spcBef>
                <a:spcPts val="2500"/>
              </a:spcBef>
              <a:buNone/>
            </a:pPr>
            <a:r>
              <a:rPr lang="es-AR" sz="1800" dirty="0"/>
              <a:t>Convertí las listas de lemas a strings y luego a secuencias numéricas usando Keras Tokenizer, limitando el vocabulario a 10.000 palabras más frecuentes y recortando los tweets a una longitud máxima de 30 tokens. Así preparé la matriz de entrada para los modelos.</a:t>
            </a:r>
          </a:p>
          <a:p>
            <a:pPr marL="0" indent="0" algn="just">
              <a:spcBef>
                <a:spcPts val="2500"/>
              </a:spcBef>
              <a:buNone/>
            </a:pPr>
            <a:endParaRPr lang="es-AR" sz="1800" dirty="0"/>
          </a:p>
          <a:p>
            <a:pPr marL="0" indent="0" algn="just">
              <a:spcBef>
                <a:spcPts val="0"/>
              </a:spcBef>
              <a:buNone/>
            </a:pPr>
            <a:r>
              <a:rPr lang="es-AR" sz="1800" dirty="0"/>
              <a:t>Modelos Utilizados:</a:t>
            </a:r>
          </a:p>
          <a:p>
            <a:pPr marL="0" indent="0" algn="just">
              <a:spcBef>
                <a:spcPts val="0"/>
              </a:spcBef>
              <a:buNone/>
            </a:pPr>
            <a:endParaRPr lang="es-AR" sz="1800" dirty="0"/>
          </a:p>
          <a:p>
            <a:pPr marL="0" lvl="0" indent="0" eaLnBrk="0" fontAlgn="base" hangingPunct="0">
              <a:lnSpc>
                <a:spcPct val="100000"/>
              </a:lnSpc>
              <a:spcBef>
                <a:spcPct val="0"/>
              </a:spcBef>
              <a:spcAft>
                <a:spcPct val="0"/>
              </a:spcAft>
              <a:buFontTx/>
              <a:buChar char="•"/>
            </a:pPr>
            <a:r>
              <a:rPr kumimoji="0" lang="es-AR" altLang="es-AR" sz="1800" b="1" i="0" u="none" strike="noStrike" cap="none" normalizeH="0" baseline="0" dirty="0">
                <a:ln>
                  <a:noFill/>
                </a:ln>
                <a:solidFill>
                  <a:schemeClr val="tx1"/>
                </a:solidFill>
                <a:effectLst/>
              </a:rPr>
              <a:t>LSTM (modelo simple)</a:t>
            </a:r>
            <a:endParaRPr kumimoji="0" lang="es-AR" altLang="es-AR" sz="1800" b="0" i="0" u="none" strike="noStrike" cap="none" normalizeH="0" baseline="0" dirty="0">
              <a:ln>
                <a:noFill/>
              </a:ln>
              <a:solidFill>
                <a:schemeClr val="tx1"/>
              </a:solidFill>
              <a:effectLst/>
            </a:endParaRPr>
          </a:p>
          <a:p>
            <a:pPr marL="0" lvl="0" indent="0" eaLnBrk="0" fontAlgn="base" hangingPunct="0">
              <a:lnSpc>
                <a:spcPct val="100000"/>
              </a:lnSpc>
              <a:spcBef>
                <a:spcPct val="0"/>
              </a:spcBef>
              <a:spcAft>
                <a:spcPct val="0"/>
              </a:spcAft>
              <a:buFontTx/>
              <a:buChar char="•"/>
            </a:pPr>
            <a:r>
              <a:rPr kumimoji="0" lang="es-AR" altLang="es-AR" sz="1800" b="1" i="0" u="none" strike="noStrike" cap="none" normalizeH="0" baseline="0" dirty="0">
                <a:ln>
                  <a:noFill/>
                </a:ln>
                <a:solidFill>
                  <a:schemeClr val="tx1"/>
                </a:solidFill>
                <a:effectLst/>
              </a:rPr>
              <a:t>LSTM con más capas ocultas</a:t>
            </a:r>
            <a:endParaRPr kumimoji="0" lang="es-AR" altLang="es-AR" sz="1800" b="0" i="0" u="none" strike="noStrike" cap="none" normalizeH="0" baseline="0" dirty="0">
              <a:ln>
                <a:noFill/>
              </a:ln>
              <a:solidFill>
                <a:schemeClr val="tx1"/>
              </a:solidFill>
              <a:effectLst/>
            </a:endParaRPr>
          </a:p>
          <a:p>
            <a:pPr marL="0" lvl="0" indent="0" eaLnBrk="0" fontAlgn="base" hangingPunct="0">
              <a:lnSpc>
                <a:spcPct val="100000"/>
              </a:lnSpc>
              <a:spcBef>
                <a:spcPct val="0"/>
              </a:spcBef>
              <a:spcAft>
                <a:spcPct val="0"/>
              </a:spcAft>
              <a:buFontTx/>
              <a:buChar char="•"/>
            </a:pPr>
            <a:r>
              <a:rPr kumimoji="0" lang="es-AR" altLang="es-AR" sz="1800" b="1" i="0" u="none" strike="noStrike" cap="none" normalizeH="0" baseline="0" dirty="0">
                <a:ln>
                  <a:noFill/>
                </a:ln>
                <a:solidFill>
                  <a:schemeClr val="tx1"/>
                </a:solidFill>
                <a:effectLst/>
              </a:rPr>
              <a:t>LSTM con más neuronas</a:t>
            </a:r>
            <a:endParaRPr kumimoji="0" lang="es-AR" altLang="es-AR" sz="1800" b="0" i="0" u="none" strike="noStrike" cap="none" normalizeH="0" baseline="0" dirty="0">
              <a:ln>
                <a:noFill/>
              </a:ln>
              <a:solidFill>
                <a:schemeClr val="tx1"/>
              </a:solidFill>
              <a:effectLst/>
            </a:endParaRPr>
          </a:p>
          <a:p>
            <a:pPr marL="0" lvl="0" indent="0" eaLnBrk="0" fontAlgn="base" hangingPunct="0">
              <a:lnSpc>
                <a:spcPct val="100000"/>
              </a:lnSpc>
              <a:spcBef>
                <a:spcPct val="0"/>
              </a:spcBef>
              <a:spcAft>
                <a:spcPct val="0"/>
              </a:spcAft>
              <a:buFontTx/>
              <a:buChar char="•"/>
            </a:pPr>
            <a:r>
              <a:rPr kumimoji="0" lang="es-AR" altLang="es-AR" sz="1800" b="1" i="0" u="none" strike="noStrike" cap="none" normalizeH="0" baseline="0" dirty="0">
                <a:ln>
                  <a:noFill/>
                </a:ln>
                <a:solidFill>
                  <a:schemeClr val="tx1"/>
                </a:solidFill>
                <a:effectLst/>
              </a:rPr>
              <a:t>LSTM + Dropout</a:t>
            </a:r>
            <a:endParaRPr kumimoji="0" lang="es-AR" altLang="es-AR" sz="1800" b="0" i="0" u="none" strike="noStrike" cap="none" normalizeH="0" baseline="0" dirty="0">
              <a:ln>
                <a:noFill/>
              </a:ln>
              <a:solidFill>
                <a:schemeClr val="tx1"/>
              </a:solidFill>
              <a:effectLst/>
            </a:endParaRPr>
          </a:p>
          <a:p>
            <a:pPr marL="0" lvl="0" indent="0" eaLnBrk="0" fontAlgn="base" hangingPunct="0">
              <a:lnSpc>
                <a:spcPct val="100000"/>
              </a:lnSpc>
              <a:spcBef>
                <a:spcPct val="0"/>
              </a:spcBef>
              <a:spcAft>
                <a:spcPct val="0"/>
              </a:spcAft>
              <a:buFontTx/>
              <a:buChar char="•"/>
            </a:pPr>
            <a:r>
              <a:rPr kumimoji="0" lang="es-AR" altLang="es-AR" sz="1800" b="1" i="0" u="none" strike="noStrike" cap="none" normalizeH="0" baseline="0" dirty="0">
                <a:ln>
                  <a:noFill/>
                </a:ln>
                <a:solidFill>
                  <a:schemeClr val="tx1"/>
                </a:solidFill>
                <a:effectLst/>
              </a:rPr>
              <a:t>CNN (modelo convolucional)</a:t>
            </a:r>
            <a:endParaRPr kumimoji="0" lang="es-AR" altLang="es-AR" sz="1800" b="0" i="0" u="none" strike="noStrike" cap="none" normalizeH="0" baseline="0" dirty="0">
              <a:ln>
                <a:noFill/>
              </a:ln>
              <a:solidFill>
                <a:schemeClr val="tx1"/>
              </a:solidFill>
              <a:effectLst/>
            </a:endParaRPr>
          </a:p>
          <a:p>
            <a:pPr marL="0" lvl="0" indent="0" eaLnBrk="0" fontAlgn="base" hangingPunct="0">
              <a:lnSpc>
                <a:spcPct val="100000"/>
              </a:lnSpc>
              <a:spcBef>
                <a:spcPct val="0"/>
              </a:spcBef>
              <a:spcAft>
                <a:spcPct val="0"/>
              </a:spcAft>
              <a:buFontTx/>
              <a:buChar char="•"/>
            </a:pPr>
            <a:r>
              <a:rPr kumimoji="0" lang="es-AR" altLang="es-AR" sz="1800" b="1" i="0" u="none" strike="noStrike" cap="none" normalizeH="0" baseline="0" dirty="0">
                <a:ln>
                  <a:noFill/>
                </a:ln>
                <a:solidFill>
                  <a:schemeClr val="tx1"/>
                </a:solidFill>
                <a:effectLst/>
              </a:rPr>
              <a:t>MLP (perceptrón multicapa) sobre TF-IDF</a:t>
            </a:r>
            <a:endParaRPr kumimoji="0" lang="es-AR" altLang="es-AR" sz="1800" b="0" i="0" u="none" strike="noStrike" cap="none" normalizeH="0" baseline="0" dirty="0">
              <a:ln>
                <a:noFill/>
              </a:ln>
              <a:solidFill>
                <a:schemeClr val="tx1"/>
              </a:solidFill>
              <a:effectLst/>
            </a:endParaRPr>
          </a:p>
          <a:p>
            <a:pPr marL="0" lvl="0" indent="0" eaLnBrk="0" fontAlgn="base" hangingPunct="0">
              <a:lnSpc>
                <a:spcPct val="100000"/>
              </a:lnSpc>
              <a:spcBef>
                <a:spcPct val="0"/>
              </a:spcBef>
              <a:spcAft>
                <a:spcPct val="0"/>
              </a:spcAft>
              <a:buFontTx/>
              <a:buChar char="•"/>
            </a:pPr>
            <a:r>
              <a:rPr kumimoji="0" lang="es-AR" altLang="es-AR" sz="1800" b="1" i="0" u="none" strike="noStrike" cap="none" normalizeH="0" baseline="0" dirty="0">
                <a:ln>
                  <a:noFill/>
                </a:ln>
                <a:solidFill>
                  <a:schemeClr val="tx1"/>
                </a:solidFill>
                <a:effectLst/>
              </a:rPr>
              <a:t>LSTM con validación cruzada (K-Fold)</a:t>
            </a:r>
            <a:endParaRPr kumimoji="0" lang="es-AR" altLang="es-AR" sz="1800" b="0" i="0" u="none" strike="noStrike" cap="none" normalizeH="0" baseline="0" dirty="0">
              <a:ln>
                <a:noFill/>
              </a:ln>
              <a:solidFill>
                <a:schemeClr val="tx1"/>
              </a:solidFill>
              <a:effectLst/>
            </a:endParaRPr>
          </a:p>
          <a:p>
            <a:pPr marL="0" indent="0" algn="just">
              <a:spcBef>
                <a:spcPts val="2500"/>
              </a:spcBef>
              <a:buNone/>
            </a:pPr>
            <a:endParaRPr lang="es-AR" sz="1400" dirty="0"/>
          </a:p>
          <a:p>
            <a:pPr marL="0" indent="0" algn="just">
              <a:lnSpc>
                <a:spcPct val="100000"/>
              </a:lnSpc>
              <a:spcBef>
                <a:spcPts val="2500"/>
              </a:spcBef>
              <a:buNone/>
            </a:pPr>
            <a:endParaRPr lang="es-AR" sz="1400" dirty="0"/>
          </a:p>
        </p:txBody>
      </p:sp>
      <p:pic>
        <p:nvPicPr>
          <p:cNvPr id="5" name="Marcador de contenido 4" descr="El poder del big data. Bit de información de código binario.">
            <a:extLst>
              <a:ext uri="{FF2B5EF4-FFF2-40B4-BE49-F238E27FC236}">
                <a16:creationId xmlns:a16="http://schemas.microsoft.com/office/drawing/2014/main" id="{3F656C23-0B47-460F-B688-EC8BA9A4A965}"/>
              </a:ext>
            </a:extLst>
          </p:cNvPr>
          <p:cNvPicPr>
            <a:picLocks noGrp="1" noChangeAspect="1"/>
          </p:cNvPicPr>
          <p:nvPr>
            <p:ph sz="half" idx="1"/>
          </p:nvPr>
        </p:nvPicPr>
        <p:blipFill>
          <a:blip r:embed="rId3"/>
          <a:stretch>
            <a:fillRect/>
          </a:stretch>
        </p:blipFill>
        <p:spPr>
          <a:xfrm>
            <a:off x="7174791" y="433384"/>
            <a:ext cx="4514713" cy="6019618"/>
          </a:xfrm>
          <a:prstGeom prst="rect">
            <a:avLst/>
          </a:prstGeom>
        </p:spPr>
      </p:pic>
    </p:spTree>
    <p:extLst>
      <p:ext uri="{BB962C8B-B14F-4D97-AF65-F5344CB8AC3E}">
        <p14:creationId xmlns:p14="http://schemas.microsoft.com/office/powerpoint/2010/main" val="2808644921"/>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E304E1B9-3136-90B5-450C-5ECAE699F944}"/>
              </a:ext>
            </a:extLst>
          </p:cNvPr>
          <p:cNvSpPr>
            <a:spLocks noGrp="1"/>
          </p:cNvSpPr>
          <p:nvPr>
            <p:ph type="title"/>
          </p:nvPr>
        </p:nvSpPr>
        <p:spPr>
          <a:xfrm>
            <a:off x="4160197" y="320040"/>
            <a:ext cx="5862396" cy="606552"/>
          </a:xfrm>
        </p:spPr>
        <p:txBody>
          <a:bodyPr vert="horz" lIns="91440" tIns="45720" rIns="91440" bIns="45720" rtlCol="0" anchor="b">
            <a:normAutofit/>
          </a:bodyPr>
          <a:lstStyle/>
          <a:p>
            <a:r>
              <a:rPr lang="en-US" sz="3600" b="1" dirty="0"/>
              <a:t>Resultado de cada Modelo</a:t>
            </a:r>
            <a:endParaRPr lang="en-US" sz="3600" b="1" kern="1200" dirty="0">
              <a:solidFill>
                <a:schemeClr val="tx1"/>
              </a:solidFill>
              <a:latin typeface="+mj-lt"/>
              <a:ea typeface="+mj-ea"/>
              <a:cs typeface="+mj-cs"/>
            </a:endParaRPr>
          </a:p>
        </p:txBody>
      </p:sp>
      <p:pic>
        <p:nvPicPr>
          <p:cNvPr id="5" name="Marcador de contenido 4" descr="La comunicación y la colaboración globales involucran cuerdas y llaves electrónicas a través de las redes sociales de teléfonos inteligentes equipados con IA.">
            <a:extLst>
              <a:ext uri="{FF2B5EF4-FFF2-40B4-BE49-F238E27FC236}">
                <a16:creationId xmlns:a16="http://schemas.microsoft.com/office/drawing/2014/main" id="{9C564A17-3D8F-4362-85CA-6C5AC07FAD8D}"/>
              </a:ext>
            </a:extLst>
          </p:cNvPr>
          <p:cNvPicPr>
            <a:picLocks noGrp="1" noChangeAspect="1"/>
          </p:cNvPicPr>
          <p:nvPr>
            <p:ph sz="half" idx="1"/>
          </p:nvPr>
        </p:nvPicPr>
        <p:blipFill>
          <a:blip r:embed="rId3"/>
          <a:stretch>
            <a:fillRect/>
          </a:stretch>
        </p:blipFill>
        <p:spPr>
          <a:xfrm>
            <a:off x="7091395" y="1880740"/>
            <a:ext cx="4681506" cy="4276220"/>
          </a:xfrm>
          <a:prstGeom prst="rect">
            <a:avLst/>
          </a:prstGeom>
        </p:spPr>
      </p:pic>
      <p:sp>
        <p:nvSpPr>
          <p:cNvPr id="9" name="Rectangle 4">
            <a:extLst>
              <a:ext uri="{FF2B5EF4-FFF2-40B4-BE49-F238E27FC236}">
                <a16:creationId xmlns:a16="http://schemas.microsoft.com/office/drawing/2014/main" id="{FA78D531-E3FE-674C-8849-46BECB72CF94}"/>
              </a:ext>
            </a:extLst>
          </p:cNvPr>
          <p:cNvSpPr>
            <a:spLocks noGrp="1" noChangeArrowheads="1"/>
          </p:cNvSpPr>
          <p:nvPr>
            <p:ph sz="half" idx="2"/>
          </p:nvPr>
        </p:nvSpPr>
        <p:spPr bwMode="auto">
          <a:xfrm>
            <a:off x="419099" y="1246632"/>
            <a:ext cx="6152389" cy="5446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b="1" i="0" u="none" strike="noStrike" cap="none" normalizeH="0" baseline="0" dirty="0">
                <a:ln>
                  <a:noFill/>
                </a:ln>
                <a:solidFill>
                  <a:schemeClr val="tx1"/>
                </a:solidFill>
                <a:effectLst/>
              </a:rPr>
              <a:t>LSTM Simple</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s-AR" altLang="es-AR" sz="1600" i="0" u="none" strike="noStrike" cap="none" normalizeH="0" baseline="0" dirty="0">
                <a:ln>
                  <a:noFill/>
                </a:ln>
                <a:solidFill>
                  <a:schemeClr val="tx1"/>
                </a:solidFill>
                <a:effectLst/>
              </a:rPr>
              <a:t>Entrené un modelo LSTM básico sobre las secuencias lematizadas de los tweets. Logré una accuracy de validación y test de aproximadamente 64%. La curva de entrenamiento mostró que el modelo aprendió rápido, pero la accuracy se estancó, lo que indica que la arquitectura captura lo máximo posible de los datos tal como están representados.</a:t>
            </a:r>
          </a:p>
          <a:p>
            <a:pPr marL="0" marR="0" lvl="0" indent="0" algn="l" defTabSz="914400" rtl="0" eaLnBrk="0" fontAlgn="base" latinLnBrk="0" hangingPunct="0">
              <a:lnSpc>
                <a:spcPct val="100000"/>
              </a:lnSpc>
              <a:spcBef>
                <a:spcPct val="0"/>
              </a:spcBef>
              <a:spcAft>
                <a:spcPct val="0"/>
              </a:spcAft>
              <a:buClrTx/>
              <a:buSzTx/>
              <a:buFontTx/>
              <a:buNone/>
              <a:tabLst/>
            </a:pPr>
            <a:endParaRPr lang="es-AR" altLang="es-AR" sz="900" dirty="0"/>
          </a:p>
          <a:p>
            <a:pPr marL="0" indent="0">
              <a:spcBef>
                <a:spcPts val="0"/>
              </a:spcBef>
              <a:buNone/>
            </a:pPr>
            <a:r>
              <a:rPr lang="es-AR" sz="2000" b="1" dirty="0"/>
              <a:t>LSTM con más capas y/o más neuronas</a:t>
            </a:r>
          </a:p>
          <a:p>
            <a:pPr marL="0" indent="0" algn="just">
              <a:spcBef>
                <a:spcPts val="0"/>
              </a:spcBef>
              <a:buNone/>
            </a:pPr>
            <a:r>
              <a:rPr lang="es-AR" sz="1600" dirty="0"/>
              <a:t>Al aumentar la cantidad de capas y neuronas, esperaba captar relaciones más complejas en los datos. Sin embargo, la accuracy en validación y test no mejoró y, en cambio, observé que la accuracy de entrenamiento subió pero la de validación quedó igual o bajó. Esto es un síntoma clásico de overfitting: el modelo se “memoriza” los datos de entrenamiento pero no logra generalizar mejor.</a:t>
            </a:r>
          </a:p>
          <a:p>
            <a:pPr marL="0" indent="0">
              <a:spcBef>
                <a:spcPts val="0"/>
              </a:spcBef>
              <a:buNone/>
            </a:pPr>
            <a:endParaRPr lang="es-AR" sz="1600" dirty="0"/>
          </a:p>
          <a:p>
            <a:pPr marL="0" indent="0">
              <a:spcBef>
                <a:spcPts val="0"/>
              </a:spcBef>
              <a:buNone/>
            </a:pPr>
            <a:r>
              <a:rPr lang="es-AR" sz="2000" b="1" dirty="0"/>
              <a:t>LSTM con Dropout</a:t>
            </a:r>
          </a:p>
          <a:p>
            <a:pPr marL="0" indent="0" algn="just">
              <a:spcBef>
                <a:spcPts val="0"/>
              </a:spcBef>
              <a:buNone/>
            </a:pPr>
            <a:r>
              <a:rPr lang="es-AR" sz="1600" dirty="0"/>
              <a:t>Incorporé capas de Dropout para regularizar el modelo y combatir el overfitting. Esto ayudó a que la curva de entrenamiento fuera más estable y la diferencia entre entrenamiento y validación se redujera levemente, pero no trajo mejoras en la accuracy final, que siguió cerca del 64%.</a:t>
            </a:r>
            <a:endParaRPr lang="es-AR" altLang="es-AR" sz="11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105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04698620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751CE4CA-C642-E5FE-4877-33666B1D407D}"/>
              </a:ext>
            </a:extLst>
          </p:cNvPr>
          <p:cNvSpPr>
            <a:spLocks noGrp="1"/>
          </p:cNvSpPr>
          <p:nvPr>
            <p:ph type="title"/>
          </p:nvPr>
        </p:nvSpPr>
        <p:spPr>
          <a:xfrm>
            <a:off x="2343912" y="306863"/>
            <a:ext cx="7726680" cy="713232"/>
          </a:xfrm>
        </p:spPr>
        <p:txBody>
          <a:bodyPr vert="horz" lIns="91440" tIns="45720" rIns="91440" bIns="45720" rtlCol="0" anchor="b">
            <a:normAutofit/>
          </a:bodyPr>
          <a:lstStyle/>
          <a:p>
            <a:pPr algn="ctr"/>
            <a:r>
              <a:rPr lang="en-US" sz="3600" b="1" kern="1200" dirty="0">
                <a:solidFill>
                  <a:schemeClr val="tx1"/>
                </a:solidFill>
                <a:latin typeface="+mj-lt"/>
                <a:ea typeface="+mj-ea"/>
                <a:cs typeface="+mj-cs"/>
              </a:rPr>
              <a:t>Modelo CNN en Textos Cortos</a:t>
            </a:r>
          </a:p>
        </p:txBody>
      </p:sp>
      <p:pic>
        <p:nvPicPr>
          <p:cNvPr id="5" name="Marcador de contenido 4" descr="Concepto de procesamiento de estructuras de datos 4k">
            <a:extLst>
              <a:ext uri="{FF2B5EF4-FFF2-40B4-BE49-F238E27FC236}">
                <a16:creationId xmlns:a16="http://schemas.microsoft.com/office/drawing/2014/main" id="{823FE544-8D07-4D5D-8A7C-F5A3BFEB0F4E}"/>
              </a:ext>
            </a:extLst>
          </p:cNvPr>
          <p:cNvPicPr>
            <a:picLocks noGrp="1" noChangeAspect="1"/>
          </p:cNvPicPr>
          <p:nvPr>
            <p:ph sz="half" idx="1"/>
          </p:nvPr>
        </p:nvPicPr>
        <p:blipFill>
          <a:blip r:embed="rId3"/>
          <a:stretch>
            <a:fillRect/>
          </a:stretch>
        </p:blipFill>
        <p:spPr>
          <a:xfrm>
            <a:off x="7091395" y="2126519"/>
            <a:ext cx="4434221" cy="3652489"/>
          </a:xfrm>
          <a:prstGeom prst="rect">
            <a:avLst/>
          </a:prstGeom>
        </p:spPr>
      </p:pic>
      <p:sp>
        <p:nvSpPr>
          <p:cNvPr id="3" name="Rectangle 1">
            <a:extLst>
              <a:ext uri="{FF2B5EF4-FFF2-40B4-BE49-F238E27FC236}">
                <a16:creationId xmlns:a16="http://schemas.microsoft.com/office/drawing/2014/main" id="{11718938-996D-C5A5-23F5-EDE62069CEF7}"/>
              </a:ext>
            </a:extLst>
          </p:cNvPr>
          <p:cNvSpPr>
            <a:spLocks noGrp="1" noChangeArrowheads="1"/>
          </p:cNvSpPr>
          <p:nvPr>
            <p:ph sz="half" idx="2"/>
          </p:nvPr>
        </p:nvSpPr>
        <p:spPr bwMode="auto">
          <a:xfrm>
            <a:off x="419099" y="1326959"/>
            <a:ext cx="6067045" cy="5224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AR" altLang="es-AR" sz="2000" b="1" dirty="0"/>
              <a:t>CNN (Red convolucional)</a:t>
            </a:r>
          </a:p>
          <a:p>
            <a:pPr marL="0" marR="0" lvl="0" indent="0" algn="just" defTabSz="914400" rtl="0" eaLnBrk="0" fontAlgn="base" latinLnBrk="0" hangingPunct="0">
              <a:lnSpc>
                <a:spcPct val="100000"/>
              </a:lnSpc>
              <a:spcBef>
                <a:spcPct val="0"/>
              </a:spcBef>
              <a:spcAft>
                <a:spcPct val="0"/>
              </a:spcAft>
              <a:buClrTx/>
              <a:buSzTx/>
              <a:buFontTx/>
              <a:buNone/>
              <a:tabLst/>
            </a:pPr>
            <a:r>
              <a:rPr lang="es-AR" altLang="es-AR" sz="1600" dirty="0"/>
              <a:t>Probé un modelo CNN, que suele funcionar bien en texto corto porque detecta patrones locales. El resultado fue muy similar al del LSTM: la accuracy en validación y test se mantuvo alrededor de 64%. Las curvas de aprendizaje también mostraron un límite claro en la capacidad de generalización del modelo.</a:t>
            </a:r>
          </a:p>
          <a:p>
            <a:pPr marL="0" marR="0" lvl="0" indent="0" algn="just" defTabSz="914400" rtl="0" eaLnBrk="0" fontAlgn="base" latinLnBrk="0" hangingPunct="0">
              <a:lnSpc>
                <a:spcPct val="100000"/>
              </a:lnSpc>
              <a:spcBef>
                <a:spcPct val="0"/>
              </a:spcBef>
              <a:spcAft>
                <a:spcPct val="0"/>
              </a:spcAft>
              <a:buClrTx/>
              <a:buSzTx/>
              <a:buFontTx/>
              <a:buNone/>
              <a:tabLst/>
            </a:pPr>
            <a:endParaRPr lang="es-AR" altLang="es-AR" sz="1600" dirty="0"/>
          </a:p>
          <a:p>
            <a:pPr marL="0" indent="0" eaLnBrk="0" fontAlgn="base" hangingPunct="0">
              <a:lnSpc>
                <a:spcPct val="100000"/>
              </a:lnSpc>
              <a:spcBef>
                <a:spcPct val="0"/>
              </a:spcBef>
              <a:spcAft>
                <a:spcPct val="0"/>
              </a:spcAft>
              <a:buNone/>
            </a:pPr>
            <a:r>
              <a:rPr lang="es-AR" altLang="es-AR" sz="2000" b="1" dirty="0"/>
              <a:t>MLP (Multilayer Perceptron) sobre TF-IDF</a:t>
            </a:r>
          </a:p>
          <a:p>
            <a:pPr marL="0" marR="0" lvl="0" indent="0" algn="just" defTabSz="914400" rtl="0" eaLnBrk="0" fontAlgn="base" latinLnBrk="0" hangingPunct="0">
              <a:lnSpc>
                <a:spcPct val="100000"/>
              </a:lnSpc>
              <a:spcBef>
                <a:spcPct val="0"/>
              </a:spcBef>
              <a:spcAft>
                <a:spcPct val="0"/>
              </a:spcAft>
              <a:buClrTx/>
              <a:buSzTx/>
              <a:buFontTx/>
              <a:buNone/>
              <a:tabLst/>
            </a:pPr>
            <a:r>
              <a:rPr lang="es-AR" altLang="es-AR" sz="1600" dirty="0"/>
              <a:t>Intenté una red densa (MLP) usando una representación clásica de texto (TF-IDF). Este enfoque no pudo superar los resultados de LSTM o CNN: la accuracy de test fue del 57%, mostrando que las redes profundas que consideran la secuencia de palabras (como LSTM o CNN) son superiores para este tipo de problema.</a:t>
            </a:r>
          </a:p>
          <a:p>
            <a:pPr marL="0" marR="0" lvl="0" indent="0" algn="just" defTabSz="914400" rtl="0" eaLnBrk="0" fontAlgn="base" latinLnBrk="0" hangingPunct="0">
              <a:lnSpc>
                <a:spcPct val="100000"/>
              </a:lnSpc>
              <a:spcBef>
                <a:spcPct val="0"/>
              </a:spcBef>
              <a:spcAft>
                <a:spcPct val="0"/>
              </a:spcAft>
              <a:buClrTx/>
              <a:buSzTx/>
              <a:buFontTx/>
              <a:buNone/>
              <a:tabLst/>
            </a:pPr>
            <a:endParaRPr lang="es-AR" altLang="es-AR" sz="1600" dirty="0"/>
          </a:p>
          <a:p>
            <a:pPr marL="0" marR="0" lvl="0" indent="0" algn="just" eaLnBrk="0" fontAlgn="base" hangingPunct="0">
              <a:lnSpc>
                <a:spcPct val="100000"/>
              </a:lnSpc>
              <a:spcBef>
                <a:spcPct val="0"/>
              </a:spcBef>
              <a:spcAft>
                <a:spcPct val="0"/>
              </a:spcAft>
              <a:buClrTx/>
              <a:buSzTx/>
              <a:buNone/>
              <a:tabLst/>
            </a:pPr>
            <a:r>
              <a:rPr lang="es-AR" altLang="es-AR" sz="2000" b="1" dirty="0"/>
              <a:t>LSTM con validación cruzada (cross-validation)</a:t>
            </a:r>
          </a:p>
          <a:p>
            <a:pPr marL="0" marR="0" lvl="0" indent="0" algn="just" defTabSz="914400" rtl="0" eaLnBrk="0" fontAlgn="base" latinLnBrk="0" hangingPunct="0">
              <a:lnSpc>
                <a:spcPct val="100000"/>
              </a:lnSpc>
              <a:spcBef>
                <a:spcPct val="0"/>
              </a:spcBef>
              <a:spcAft>
                <a:spcPct val="0"/>
              </a:spcAft>
              <a:buClrTx/>
              <a:buSzTx/>
              <a:buFontTx/>
              <a:buNone/>
              <a:tabLst/>
            </a:pPr>
            <a:r>
              <a:rPr lang="es-AR" altLang="es-AR" sz="1600" dirty="0"/>
              <a:t>Finalmente, para robustecer los resultados, implementé cross-validation K-Fold con LSTM. El accuracy promedio fue nuevamente de 64%, confirmando que los resultados son estables y no dependen de una sola división de los datos.</a:t>
            </a:r>
          </a:p>
        </p:txBody>
      </p:sp>
    </p:spTree>
    <p:extLst>
      <p:ext uri="{BB962C8B-B14F-4D97-AF65-F5344CB8AC3E}">
        <p14:creationId xmlns:p14="http://schemas.microsoft.com/office/powerpoint/2010/main" val="203266745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Freeform: Shape 36">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Freeform: Shape 42">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5" name="Isosceles Triangle 44">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Isosceles Triangle 46">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Marcador de contenido 4">
            <a:extLst>
              <a:ext uri="{FF2B5EF4-FFF2-40B4-BE49-F238E27FC236}">
                <a16:creationId xmlns:a16="http://schemas.microsoft.com/office/drawing/2014/main" id="{D22472A0-34E6-9FAF-0978-341D3216E71D}"/>
              </a:ext>
            </a:extLst>
          </p:cNvPr>
          <p:cNvGraphicFramePr>
            <a:graphicFrameLocks noGrp="1"/>
          </p:cNvGraphicFramePr>
          <p:nvPr>
            <p:ph sz="half" idx="1"/>
            <p:extLst>
              <p:ext uri="{D42A27DB-BD31-4B8C-83A1-F6EECF244321}">
                <p14:modId xmlns:p14="http://schemas.microsoft.com/office/powerpoint/2010/main" val="2736249705"/>
              </p:ext>
            </p:extLst>
          </p:nvPr>
        </p:nvGraphicFramePr>
        <p:xfrm>
          <a:off x="643467" y="1298401"/>
          <a:ext cx="10905067" cy="4817098"/>
        </p:xfrm>
        <a:graphic>
          <a:graphicData uri="http://schemas.openxmlformats.org/drawingml/2006/table">
            <a:tbl>
              <a:tblPr firstRow="1" bandRow="1">
                <a:solidFill>
                  <a:schemeClr val="bg1">
                    <a:lumMod val="95000"/>
                  </a:schemeClr>
                </a:solidFill>
              </a:tblPr>
              <a:tblGrid>
                <a:gridCol w="3045132">
                  <a:extLst>
                    <a:ext uri="{9D8B030D-6E8A-4147-A177-3AD203B41FA5}">
                      <a16:colId xmlns:a16="http://schemas.microsoft.com/office/drawing/2014/main" val="954567889"/>
                    </a:ext>
                  </a:extLst>
                </a:gridCol>
                <a:gridCol w="2480940">
                  <a:extLst>
                    <a:ext uri="{9D8B030D-6E8A-4147-A177-3AD203B41FA5}">
                      <a16:colId xmlns:a16="http://schemas.microsoft.com/office/drawing/2014/main" val="969089229"/>
                    </a:ext>
                  </a:extLst>
                </a:gridCol>
                <a:gridCol w="1863703">
                  <a:extLst>
                    <a:ext uri="{9D8B030D-6E8A-4147-A177-3AD203B41FA5}">
                      <a16:colId xmlns:a16="http://schemas.microsoft.com/office/drawing/2014/main" val="3722933081"/>
                    </a:ext>
                  </a:extLst>
                </a:gridCol>
                <a:gridCol w="3515292">
                  <a:extLst>
                    <a:ext uri="{9D8B030D-6E8A-4147-A177-3AD203B41FA5}">
                      <a16:colId xmlns:a16="http://schemas.microsoft.com/office/drawing/2014/main" val="950024461"/>
                    </a:ext>
                  </a:extLst>
                </a:gridCol>
              </a:tblGrid>
              <a:tr h="733013">
                <a:tc>
                  <a:txBody>
                    <a:bodyPr/>
                    <a:lstStyle/>
                    <a:p>
                      <a:r>
                        <a:rPr lang="es-AR" sz="2400" b="0" cap="none" spc="0" dirty="0">
                          <a:solidFill>
                            <a:schemeClr val="bg1"/>
                          </a:solidFill>
                        </a:rPr>
                        <a:t>Modelo</a:t>
                      </a:r>
                    </a:p>
                  </a:txBody>
                  <a:tcPr marL="167298" marR="167298" marT="138878" marB="83650" anchor="ctr">
                    <a:lnL w="12700" cmpd="sng">
                      <a:noFill/>
                    </a:lnL>
                    <a:lnR w="12700" cmpd="sng">
                      <a:noFill/>
                    </a:lnR>
                    <a:lnT w="19050" cap="flat" cmpd="sng" algn="ctr">
                      <a:noFill/>
                      <a:prstDash val="solid"/>
                    </a:lnT>
                    <a:lnB w="38100" cmpd="sng">
                      <a:noFill/>
                    </a:lnB>
                    <a:solidFill>
                      <a:schemeClr val="accent2"/>
                    </a:solidFill>
                  </a:tcPr>
                </a:tc>
                <a:tc>
                  <a:txBody>
                    <a:bodyPr/>
                    <a:lstStyle/>
                    <a:p>
                      <a:r>
                        <a:rPr lang="es-AR" sz="2400" b="0" cap="none" spc="0" dirty="0">
                          <a:solidFill>
                            <a:schemeClr val="bg1"/>
                          </a:solidFill>
                        </a:rPr>
                        <a:t>Accuracy Test</a:t>
                      </a:r>
                    </a:p>
                  </a:txBody>
                  <a:tcPr marL="167298" marR="167298" marT="138878" marB="83650" anchor="ctr">
                    <a:lnL w="12700" cmpd="sng">
                      <a:noFill/>
                    </a:lnL>
                    <a:lnR w="12700" cmpd="sng">
                      <a:noFill/>
                    </a:lnR>
                    <a:lnT w="19050" cap="flat" cmpd="sng" algn="ctr">
                      <a:noFill/>
                      <a:prstDash val="solid"/>
                    </a:lnT>
                    <a:lnB w="38100" cmpd="sng">
                      <a:noFill/>
                    </a:lnB>
                    <a:solidFill>
                      <a:schemeClr val="accent2"/>
                    </a:solidFill>
                  </a:tcPr>
                </a:tc>
                <a:tc>
                  <a:txBody>
                    <a:bodyPr/>
                    <a:lstStyle/>
                    <a:p>
                      <a:r>
                        <a:rPr lang="es-AR" sz="2400" b="0" cap="none" spc="0" dirty="0">
                          <a:solidFill>
                            <a:schemeClr val="bg1"/>
                          </a:solidFill>
                        </a:rPr>
                        <a:t>Loss Test</a:t>
                      </a:r>
                    </a:p>
                  </a:txBody>
                  <a:tcPr marL="167298" marR="167298" marT="138878" marB="83650" anchor="ctr">
                    <a:lnL w="12700" cmpd="sng">
                      <a:noFill/>
                    </a:lnL>
                    <a:lnR w="12700" cmpd="sng">
                      <a:noFill/>
                    </a:lnR>
                    <a:lnT w="19050" cap="flat" cmpd="sng" algn="ctr">
                      <a:noFill/>
                      <a:prstDash val="solid"/>
                    </a:lnT>
                    <a:lnB w="38100" cmpd="sng">
                      <a:noFill/>
                    </a:lnB>
                    <a:solidFill>
                      <a:schemeClr val="accent2"/>
                    </a:solidFill>
                  </a:tcPr>
                </a:tc>
                <a:tc>
                  <a:txBody>
                    <a:bodyPr/>
                    <a:lstStyle/>
                    <a:p>
                      <a:r>
                        <a:rPr lang="es-AR" sz="2400" b="0" cap="none" spc="0" dirty="0">
                          <a:solidFill>
                            <a:schemeClr val="bg1"/>
                          </a:solidFill>
                        </a:rPr>
                        <a:t>Observación</a:t>
                      </a:r>
                    </a:p>
                  </a:txBody>
                  <a:tcPr marL="167298" marR="167298" marT="138878" marB="83650" anchor="ctr">
                    <a:lnL w="12700" cmpd="sng">
                      <a:noFill/>
                    </a:lnL>
                    <a:lnR w="12700" cmpd="sng">
                      <a:noFill/>
                    </a:lnR>
                    <a:lnT w="19050" cap="flat" cmpd="sng" algn="ctr">
                      <a:noFill/>
                      <a:prstDash val="solid"/>
                    </a:lnT>
                    <a:lnB w="38100" cmpd="sng">
                      <a:noFill/>
                    </a:lnB>
                    <a:solidFill>
                      <a:schemeClr val="accent2"/>
                    </a:solidFill>
                  </a:tcPr>
                </a:tc>
                <a:extLst>
                  <a:ext uri="{0D108BD9-81ED-4DB2-BD59-A6C34878D82A}">
                    <a16:rowId xmlns:a16="http://schemas.microsoft.com/office/drawing/2014/main" val="4051405972"/>
                  </a:ext>
                </a:extLst>
              </a:tr>
              <a:tr h="942340">
                <a:tc>
                  <a:txBody>
                    <a:bodyPr/>
                    <a:lstStyle/>
                    <a:p>
                      <a:r>
                        <a:rPr lang="es-AR" sz="1800" cap="none" spc="0" dirty="0">
                          <a:solidFill>
                            <a:schemeClr val="tx1"/>
                          </a:solidFill>
                        </a:rPr>
                        <a:t>LSTM Simple</a:t>
                      </a:r>
                    </a:p>
                  </a:txBody>
                  <a:tcPr marL="167298" marR="167298" marT="138878" marB="83650" anchor="ctr">
                    <a:lnL w="12700" cmpd="sng">
                      <a:noFill/>
                      <a:prstDash val="solid"/>
                    </a:lnL>
                    <a:lnR w="12700" cmpd="sng">
                      <a:noFill/>
                      <a:prstDash val="solid"/>
                    </a:lnR>
                    <a:lnT w="38100" cmpd="sng">
                      <a:noFill/>
                    </a:lnT>
                    <a:lnB w="9525" cap="flat" cmpd="sng" algn="ctr">
                      <a:solidFill>
                        <a:schemeClr val="tx1">
                          <a:lumMod val="50000"/>
                          <a:lumOff val="50000"/>
                        </a:schemeClr>
                      </a:solidFill>
                      <a:prstDash val="solid"/>
                    </a:lnB>
                    <a:solidFill>
                      <a:schemeClr val="bg1">
                        <a:lumMod val="95000"/>
                      </a:schemeClr>
                    </a:solidFill>
                  </a:tcPr>
                </a:tc>
                <a:tc>
                  <a:txBody>
                    <a:bodyPr/>
                    <a:lstStyle/>
                    <a:p>
                      <a:r>
                        <a:rPr lang="es-AR" sz="1800" cap="none" spc="0" dirty="0">
                          <a:solidFill>
                            <a:schemeClr val="tx1"/>
                          </a:solidFill>
                        </a:rPr>
                        <a:t>0.64</a:t>
                      </a:r>
                    </a:p>
                  </a:txBody>
                  <a:tcPr marL="167298" marR="167298" marT="138878" marB="83650" anchor="ctr">
                    <a:lnL w="12700" cmpd="sng">
                      <a:noFill/>
                      <a:prstDash val="solid"/>
                    </a:lnL>
                    <a:lnR w="12700" cmpd="sng">
                      <a:noFill/>
                      <a:prstDash val="solid"/>
                    </a:lnR>
                    <a:lnT w="38100" cmpd="sng">
                      <a:noFill/>
                    </a:lnT>
                    <a:lnB w="9525" cap="flat" cmpd="sng" algn="ctr">
                      <a:solidFill>
                        <a:schemeClr val="tx1">
                          <a:lumMod val="50000"/>
                          <a:lumOff val="50000"/>
                        </a:schemeClr>
                      </a:solidFill>
                      <a:prstDash val="solid"/>
                    </a:lnB>
                    <a:solidFill>
                      <a:schemeClr val="bg1">
                        <a:lumMod val="95000"/>
                      </a:schemeClr>
                    </a:solidFill>
                  </a:tcPr>
                </a:tc>
                <a:tc>
                  <a:txBody>
                    <a:bodyPr/>
                    <a:lstStyle/>
                    <a:p>
                      <a:r>
                        <a:rPr lang="es-AR" sz="1800" cap="none" spc="0" dirty="0">
                          <a:solidFill>
                            <a:schemeClr val="tx1"/>
                          </a:solidFill>
                        </a:rPr>
                        <a:t>1.03</a:t>
                      </a:r>
                    </a:p>
                  </a:txBody>
                  <a:tcPr marL="167298" marR="167298" marT="138878" marB="83650" anchor="ctr">
                    <a:lnL w="12700" cmpd="sng">
                      <a:noFill/>
                      <a:prstDash val="solid"/>
                    </a:lnL>
                    <a:lnR w="12700" cmpd="sng">
                      <a:noFill/>
                      <a:prstDash val="solid"/>
                    </a:lnR>
                    <a:lnT w="38100" cmpd="sng">
                      <a:noFill/>
                    </a:lnT>
                    <a:lnB w="9525" cap="flat" cmpd="sng" algn="ctr">
                      <a:solidFill>
                        <a:schemeClr val="tx1">
                          <a:lumMod val="50000"/>
                          <a:lumOff val="50000"/>
                        </a:schemeClr>
                      </a:solidFill>
                      <a:prstDash val="solid"/>
                    </a:lnB>
                    <a:solidFill>
                      <a:schemeClr val="bg1">
                        <a:lumMod val="95000"/>
                      </a:schemeClr>
                    </a:solidFill>
                  </a:tcPr>
                </a:tc>
                <a:tc>
                  <a:txBody>
                    <a:bodyPr/>
                    <a:lstStyle/>
                    <a:p>
                      <a:r>
                        <a:rPr lang="es-AR" sz="1800" cap="none" spc="0" dirty="0">
                          <a:solidFill>
                            <a:schemeClr val="tx1"/>
                          </a:solidFill>
                        </a:rPr>
                        <a:t>Mejor relación estabilidad/simplicidad</a:t>
                      </a:r>
                    </a:p>
                  </a:txBody>
                  <a:tcPr marL="167298" marR="167298" marT="138878" marB="83650" anchor="ctr">
                    <a:lnL w="12700" cmpd="sng">
                      <a:noFill/>
                      <a:prstDash val="solid"/>
                    </a:lnL>
                    <a:lnR w="12700" cmpd="sng">
                      <a:noFill/>
                      <a:prstDash val="solid"/>
                    </a:lnR>
                    <a:lnT w="38100" cmpd="sng">
                      <a:noFill/>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174224246"/>
                  </a:ext>
                </a:extLst>
              </a:tr>
              <a:tr h="628349">
                <a:tc>
                  <a:txBody>
                    <a:bodyPr/>
                    <a:lstStyle/>
                    <a:p>
                      <a:r>
                        <a:rPr lang="es-AR" sz="1800" cap="none" spc="0" dirty="0">
                          <a:solidFill>
                            <a:schemeClr val="tx1"/>
                          </a:solidFill>
                        </a:rPr>
                        <a:t>LSTM + Capas/Neuronas</a:t>
                      </a:r>
                    </a:p>
                  </a:txBody>
                  <a:tcPr marL="167298" marR="167298" marT="138878" marB="83650"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r>
                        <a:rPr lang="es-AR" sz="1800" cap="none" spc="0" dirty="0">
                          <a:solidFill>
                            <a:schemeClr val="tx1"/>
                          </a:solidFill>
                        </a:rPr>
                        <a:t>0.63</a:t>
                      </a:r>
                    </a:p>
                  </a:txBody>
                  <a:tcPr marL="167298" marR="167298" marT="138878" marB="83650"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r>
                        <a:rPr lang="es-AR" sz="1800" cap="none" spc="0" dirty="0">
                          <a:solidFill>
                            <a:schemeClr val="tx1"/>
                          </a:solidFill>
                        </a:rPr>
                        <a:t>1.16</a:t>
                      </a:r>
                    </a:p>
                  </a:txBody>
                  <a:tcPr marL="167298" marR="167298" marT="138878" marB="83650"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r>
                        <a:rPr lang="es-AR" sz="1800" cap="none" spc="0" dirty="0">
                          <a:solidFill>
                            <a:schemeClr val="tx1"/>
                          </a:solidFill>
                        </a:rPr>
                        <a:t>Más overfitting</a:t>
                      </a:r>
                    </a:p>
                  </a:txBody>
                  <a:tcPr marL="167298" marR="167298" marT="138878" marB="83650"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1025841658"/>
                  </a:ext>
                </a:extLst>
              </a:tr>
              <a:tr h="628349">
                <a:tc>
                  <a:txBody>
                    <a:bodyPr/>
                    <a:lstStyle/>
                    <a:p>
                      <a:r>
                        <a:rPr lang="es-AR" sz="1800" cap="none" spc="0" dirty="0">
                          <a:solidFill>
                            <a:schemeClr val="tx1"/>
                          </a:solidFill>
                        </a:rPr>
                        <a:t>LSTM + Dropout</a:t>
                      </a:r>
                    </a:p>
                  </a:txBody>
                  <a:tcPr marL="167298" marR="167298" marT="138878" marB="83650"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r>
                        <a:rPr lang="es-AR" sz="1800" cap="none" spc="0" dirty="0">
                          <a:solidFill>
                            <a:schemeClr val="tx1"/>
                          </a:solidFill>
                        </a:rPr>
                        <a:t>0.64</a:t>
                      </a:r>
                    </a:p>
                  </a:txBody>
                  <a:tcPr marL="167298" marR="167298" marT="138878" marB="83650"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r>
                        <a:rPr lang="es-AR" sz="1800" cap="none" spc="0" dirty="0">
                          <a:solidFill>
                            <a:schemeClr val="tx1"/>
                          </a:solidFill>
                        </a:rPr>
                        <a:t>1.03</a:t>
                      </a:r>
                    </a:p>
                  </a:txBody>
                  <a:tcPr marL="167298" marR="167298" marT="138878" marB="83650"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r>
                        <a:rPr lang="es-AR" sz="1800" cap="none" spc="0" dirty="0">
                          <a:solidFill>
                            <a:schemeClr val="tx1"/>
                          </a:solidFill>
                        </a:rPr>
                        <a:t>Curvas más estables</a:t>
                      </a:r>
                    </a:p>
                  </a:txBody>
                  <a:tcPr marL="167298" marR="167298" marT="138878" marB="83650"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245257524"/>
                  </a:ext>
                </a:extLst>
              </a:tr>
              <a:tr h="628349">
                <a:tc>
                  <a:txBody>
                    <a:bodyPr/>
                    <a:lstStyle/>
                    <a:p>
                      <a:r>
                        <a:rPr lang="es-AR" sz="1800" cap="none" spc="0" dirty="0">
                          <a:solidFill>
                            <a:schemeClr val="tx1"/>
                          </a:solidFill>
                        </a:rPr>
                        <a:t>CNN</a:t>
                      </a:r>
                    </a:p>
                  </a:txBody>
                  <a:tcPr marL="167298" marR="167298" marT="138878" marB="83650"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r>
                        <a:rPr lang="es-AR" sz="1800" cap="none" spc="0" dirty="0">
                          <a:solidFill>
                            <a:schemeClr val="tx1"/>
                          </a:solidFill>
                        </a:rPr>
                        <a:t>0.64</a:t>
                      </a:r>
                    </a:p>
                  </a:txBody>
                  <a:tcPr marL="167298" marR="167298" marT="138878" marB="83650"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r>
                        <a:rPr lang="es-AR" sz="1800" cap="none" spc="0" dirty="0">
                          <a:solidFill>
                            <a:schemeClr val="tx1"/>
                          </a:solidFill>
                        </a:rPr>
                        <a:t>1.00</a:t>
                      </a:r>
                    </a:p>
                  </a:txBody>
                  <a:tcPr marL="167298" marR="167298" marT="138878" marB="83650"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r>
                        <a:rPr lang="es-AR" sz="1800" cap="none" spc="0" dirty="0">
                          <a:solidFill>
                            <a:schemeClr val="tx1"/>
                          </a:solidFill>
                        </a:rPr>
                        <a:t>Similar a LSTM</a:t>
                      </a:r>
                    </a:p>
                  </a:txBody>
                  <a:tcPr marL="167298" marR="167298" marT="138878" marB="83650"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719626180"/>
                  </a:ext>
                </a:extLst>
              </a:tr>
              <a:tr h="628349">
                <a:tc>
                  <a:txBody>
                    <a:bodyPr/>
                    <a:lstStyle/>
                    <a:p>
                      <a:r>
                        <a:rPr lang="es-AR" sz="1800" cap="none" spc="0" dirty="0">
                          <a:solidFill>
                            <a:schemeClr val="tx1"/>
                          </a:solidFill>
                        </a:rPr>
                        <a:t>MLP + TF-IDF</a:t>
                      </a:r>
                    </a:p>
                  </a:txBody>
                  <a:tcPr marL="167298" marR="167298" marT="138878" marB="83650"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r>
                        <a:rPr lang="es-AR" sz="1800" cap="none" spc="0" dirty="0">
                          <a:solidFill>
                            <a:schemeClr val="tx1"/>
                          </a:solidFill>
                        </a:rPr>
                        <a:t>0.57</a:t>
                      </a:r>
                    </a:p>
                  </a:txBody>
                  <a:tcPr marL="167298" marR="167298" marT="138878" marB="83650"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r>
                        <a:rPr lang="es-AR" sz="1800" cap="none" spc="0" dirty="0">
                          <a:solidFill>
                            <a:schemeClr val="tx1"/>
                          </a:solidFill>
                        </a:rPr>
                        <a:t>1.07</a:t>
                      </a:r>
                    </a:p>
                  </a:txBody>
                  <a:tcPr marL="167298" marR="167298" marT="138878" marB="83650"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tc>
                  <a:txBody>
                    <a:bodyPr/>
                    <a:lstStyle/>
                    <a:p>
                      <a:r>
                        <a:rPr lang="es-AR" sz="1800" cap="none" spc="0" dirty="0">
                          <a:solidFill>
                            <a:schemeClr val="tx1"/>
                          </a:solidFill>
                        </a:rPr>
                        <a:t>Peor performance</a:t>
                      </a:r>
                    </a:p>
                  </a:txBody>
                  <a:tcPr marL="167298" marR="167298" marT="138878" marB="83650" anchor="ctr">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solidFill>
                      <a:schemeClr val="bg1">
                        <a:lumMod val="95000"/>
                      </a:schemeClr>
                    </a:solidFill>
                  </a:tcPr>
                </a:tc>
                <a:extLst>
                  <a:ext uri="{0D108BD9-81ED-4DB2-BD59-A6C34878D82A}">
                    <a16:rowId xmlns:a16="http://schemas.microsoft.com/office/drawing/2014/main" val="3385309386"/>
                  </a:ext>
                </a:extLst>
              </a:tr>
              <a:tr h="628349">
                <a:tc>
                  <a:txBody>
                    <a:bodyPr/>
                    <a:lstStyle/>
                    <a:p>
                      <a:r>
                        <a:rPr lang="es-AR" sz="1800" cap="none" spc="0" dirty="0">
                          <a:solidFill>
                            <a:schemeClr val="tx1"/>
                          </a:solidFill>
                        </a:rPr>
                        <a:t>LSTM K-Fold (promedio)</a:t>
                      </a:r>
                    </a:p>
                  </a:txBody>
                  <a:tcPr marL="167298" marR="167298" marT="138878" marB="83650" anchor="ctr">
                    <a:lnL w="12700" cmpd="sng">
                      <a:noFill/>
                      <a:prstDash val="solid"/>
                    </a:lnL>
                    <a:lnR w="12700" cmpd="sng">
                      <a:noFill/>
                      <a:prstDash val="solid"/>
                    </a:lnR>
                    <a:lnT w="9525" cap="flat" cmpd="sng" algn="ctr">
                      <a:solidFill>
                        <a:schemeClr val="tx1">
                          <a:lumMod val="50000"/>
                          <a:lumOff val="50000"/>
                        </a:schemeClr>
                      </a:solidFill>
                      <a:prstDash val="solid"/>
                    </a:lnT>
                    <a:lnB w="12700" cmpd="sng">
                      <a:noFill/>
                      <a:prstDash val="solid"/>
                    </a:lnB>
                    <a:solidFill>
                      <a:schemeClr val="bg1">
                        <a:lumMod val="95000"/>
                      </a:schemeClr>
                    </a:solidFill>
                  </a:tcPr>
                </a:tc>
                <a:tc>
                  <a:txBody>
                    <a:bodyPr/>
                    <a:lstStyle/>
                    <a:p>
                      <a:r>
                        <a:rPr lang="es-AR" sz="1800" cap="none" spc="0" dirty="0">
                          <a:solidFill>
                            <a:schemeClr val="tx1"/>
                          </a:solidFill>
                        </a:rPr>
                        <a:t>0.642</a:t>
                      </a:r>
                    </a:p>
                  </a:txBody>
                  <a:tcPr marL="167298" marR="167298" marT="138878" marB="83650" anchor="ctr">
                    <a:lnL w="12700" cmpd="sng">
                      <a:noFill/>
                      <a:prstDash val="solid"/>
                    </a:lnL>
                    <a:lnR w="12700" cmpd="sng">
                      <a:noFill/>
                      <a:prstDash val="solid"/>
                    </a:lnR>
                    <a:lnT w="9525" cap="flat" cmpd="sng" algn="ctr">
                      <a:solidFill>
                        <a:schemeClr val="tx1">
                          <a:lumMod val="50000"/>
                          <a:lumOff val="50000"/>
                        </a:schemeClr>
                      </a:solidFill>
                      <a:prstDash val="solid"/>
                    </a:lnT>
                    <a:lnB w="12700" cmpd="sng">
                      <a:noFill/>
                      <a:prstDash val="solid"/>
                    </a:lnB>
                    <a:solidFill>
                      <a:schemeClr val="bg1">
                        <a:lumMod val="95000"/>
                      </a:schemeClr>
                    </a:solidFill>
                  </a:tcPr>
                </a:tc>
                <a:tc>
                  <a:txBody>
                    <a:bodyPr/>
                    <a:lstStyle/>
                    <a:p>
                      <a:r>
                        <a:rPr lang="es-AR" sz="1800" cap="none" spc="0" dirty="0">
                          <a:solidFill>
                            <a:schemeClr val="tx1"/>
                          </a:solidFill>
                        </a:rPr>
                        <a:t>0.947</a:t>
                      </a:r>
                    </a:p>
                  </a:txBody>
                  <a:tcPr marL="167298" marR="167298" marT="138878" marB="83650" anchor="ctr">
                    <a:lnL w="12700" cmpd="sng">
                      <a:noFill/>
                      <a:prstDash val="solid"/>
                    </a:lnL>
                    <a:lnR w="12700" cmpd="sng">
                      <a:noFill/>
                      <a:prstDash val="solid"/>
                    </a:lnR>
                    <a:lnT w="9525" cap="flat" cmpd="sng" algn="ctr">
                      <a:solidFill>
                        <a:schemeClr val="tx1">
                          <a:lumMod val="50000"/>
                          <a:lumOff val="50000"/>
                        </a:schemeClr>
                      </a:solidFill>
                      <a:prstDash val="solid"/>
                    </a:lnT>
                    <a:lnB w="12700" cmpd="sng">
                      <a:noFill/>
                      <a:prstDash val="solid"/>
                    </a:lnB>
                    <a:solidFill>
                      <a:schemeClr val="bg1">
                        <a:lumMod val="95000"/>
                      </a:schemeClr>
                    </a:solidFill>
                  </a:tcPr>
                </a:tc>
                <a:tc>
                  <a:txBody>
                    <a:bodyPr/>
                    <a:lstStyle/>
                    <a:p>
                      <a:r>
                        <a:rPr lang="es-AR" sz="1800" cap="none" spc="0" dirty="0">
                          <a:solidFill>
                            <a:schemeClr val="tx1"/>
                          </a:solidFill>
                        </a:rPr>
                        <a:t>Consistente en cualquier split</a:t>
                      </a:r>
                    </a:p>
                  </a:txBody>
                  <a:tcPr marL="167298" marR="167298" marT="138878" marB="83650" anchor="ctr">
                    <a:lnL w="12700" cmpd="sng">
                      <a:noFill/>
                      <a:prstDash val="solid"/>
                    </a:lnL>
                    <a:lnR w="12700" cmpd="sng">
                      <a:noFill/>
                      <a:prstDash val="solid"/>
                    </a:lnR>
                    <a:lnT w="9525" cap="flat" cmpd="sng" algn="ctr">
                      <a:solidFill>
                        <a:schemeClr val="tx1">
                          <a:lumMod val="50000"/>
                          <a:lumOff val="50000"/>
                        </a:schemeClr>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429256928"/>
                  </a:ext>
                </a:extLst>
              </a:tr>
            </a:tbl>
          </a:graphicData>
        </a:graphic>
      </p:graphicFrame>
      <p:sp>
        <p:nvSpPr>
          <p:cNvPr id="6" name="CuadroTexto 5">
            <a:extLst>
              <a:ext uri="{FF2B5EF4-FFF2-40B4-BE49-F238E27FC236}">
                <a16:creationId xmlns:a16="http://schemas.microsoft.com/office/drawing/2014/main" id="{750CB995-5104-00F4-FF28-55FEBA7CF669}"/>
              </a:ext>
            </a:extLst>
          </p:cNvPr>
          <p:cNvSpPr txBox="1"/>
          <p:nvPr/>
        </p:nvSpPr>
        <p:spPr>
          <a:xfrm>
            <a:off x="2732124" y="314426"/>
            <a:ext cx="6738733" cy="646331"/>
          </a:xfrm>
          <a:prstGeom prst="rect">
            <a:avLst/>
          </a:prstGeom>
          <a:noFill/>
        </p:spPr>
        <p:txBody>
          <a:bodyPr wrap="square" rtlCol="0">
            <a:spAutoFit/>
          </a:bodyPr>
          <a:lstStyle/>
          <a:p>
            <a:r>
              <a:rPr lang="es-AR" sz="3600" b="1" dirty="0"/>
              <a:t>Comparativa de Modelos</a:t>
            </a:r>
          </a:p>
        </p:txBody>
      </p:sp>
    </p:spTree>
    <p:extLst>
      <p:ext uri="{BB962C8B-B14F-4D97-AF65-F5344CB8AC3E}">
        <p14:creationId xmlns:p14="http://schemas.microsoft.com/office/powerpoint/2010/main" val="2411704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FB54ED41-37B8-EFFC-4C07-60AE59723F22}"/>
              </a:ext>
            </a:extLst>
          </p:cNvPr>
          <p:cNvSpPr>
            <a:spLocks noGrp="1"/>
          </p:cNvSpPr>
          <p:nvPr>
            <p:ph type="title"/>
          </p:nvPr>
        </p:nvSpPr>
        <p:spPr>
          <a:xfrm>
            <a:off x="2132075" y="462914"/>
            <a:ext cx="2996184" cy="643510"/>
          </a:xfrm>
        </p:spPr>
        <p:txBody>
          <a:bodyPr vert="horz" lIns="91440" tIns="45720" rIns="91440" bIns="45720" rtlCol="0" anchor="b">
            <a:normAutofit/>
          </a:bodyPr>
          <a:lstStyle/>
          <a:p>
            <a:r>
              <a:rPr lang="en-US" sz="3600" b="1" kern="1200" dirty="0">
                <a:solidFill>
                  <a:schemeClr val="tx1"/>
                </a:solidFill>
                <a:latin typeface="+mj-lt"/>
                <a:ea typeface="+mj-ea"/>
                <a:cs typeface="+mj-cs"/>
              </a:rPr>
              <a:t>Conclusiones </a:t>
            </a:r>
          </a:p>
        </p:txBody>
      </p:sp>
      <p:sp>
        <p:nvSpPr>
          <p:cNvPr id="4" name="Marcador de contenido 3">
            <a:extLst>
              <a:ext uri="{FF2B5EF4-FFF2-40B4-BE49-F238E27FC236}">
                <a16:creationId xmlns:a16="http://schemas.microsoft.com/office/drawing/2014/main" id="{52C3BCFB-F193-3FCA-2BC9-0819DE9F045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243584"/>
            <a:ext cx="6227065" cy="5065776"/>
          </a:xfrm>
        </p:spPr>
        <p:txBody>
          <a:bodyPr>
            <a:normAutofit/>
          </a:bodyPr>
          <a:lstStyle/>
          <a:p>
            <a:pPr marL="0" indent="0">
              <a:spcBef>
                <a:spcPts val="0"/>
              </a:spcBef>
              <a:buNone/>
            </a:pPr>
            <a:r>
              <a:rPr lang="es-AR" sz="2000" b="1" dirty="0"/>
              <a:t>Limitaciones y dificultades técnicas </a:t>
            </a:r>
          </a:p>
          <a:p>
            <a:pPr marL="0" indent="0" algn="just">
              <a:spcBef>
                <a:spcPts val="0"/>
              </a:spcBef>
              <a:buNone/>
            </a:pPr>
            <a:r>
              <a:rPr lang="es-AR" sz="1600" dirty="0"/>
              <a:t>Intenté utilizar embeddings pre-entrenados (como FastText), pero por incompatibilidades de versiones y falta de recursos en Colab no fue posible implementarlos.</a:t>
            </a:r>
          </a:p>
          <a:p>
            <a:pPr marL="0" indent="0" algn="just">
              <a:spcBef>
                <a:spcPts val="0"/>
              </a:spcBef>
              <a:buNone/>
            </a:pPr>
            <a:endParaRPr lang="es-AR" sz="1600" dirty="0"/>
          </a:p>
          <a:p>
            <a:pPr marL="0" indent="0" algn="just">
              <a:spcBef>
                <a:spcPts val="0"/>
              </a:spcBef>
              <a:buNone/>
            </a:pPr>
            <a:r>
              <a:rPr lang="es-AR" sz="2000" b="1" dirty="0"/>
              <a:t>Concluciones</a:t>
            </a:r>
          </a:p>
          <a:p>
            <a:pPr marL="0" indent="0" algn="just">
              <a:spcBef>
                <a:spcPts val="0"/>
              </a:spcBef>
              <a:buNone/>
            </a:pPr>
            <a:r>
              <a:rPr lang="es-AR" sz="1600" dirty="0"/>
              <a:t>Todos los modelos “toparon” la accuracy en valores similares, lo que indica que el límite viene de los datos, no del modelo. Probar más capas, neuronas o regularización no mejoró la generalización.</a:t>
            </a:r>
          </a:p>
          <a:p>
            <a:pPr marL="0" indent="0" algn="just">
              <a:spcBef>
                <a:spcPts val="0"/>
              </a:spcBef>
              <a:buNone/>
            </a:pPr>
            <a:endParaRPr lang="es-AR" sz="1600" dirty="0"/>
          </a:p>
          <a:p>
            <a:pPr marL="0" indent="0" algn="just">
              <a:spcBef>
                <a:spcPts val="0"/>
              </a:spcBef>
              <a:buNone/>
            </a:pPr>
            <a:r>
              <a:rPr lang="es-AR" sz="1600" dirty="0"/>
              <a:t>La accuracy máxima en validación fue de alrededor del 64%.</a:t>
            </a:r>
          </a:p>
          <a:p>
            <a:pPr marL="0" indent="0" algn="just">
              <a:spcBef>
                <a:spcPts val="0"/>
              </a:spcBef>
              <a:buNone/>
            </a:pPr>
            <a:endParaRPr lang="es-AR" sz="1600" dirty="0"/>
          </a:p>
          <a:p>
            <a:pPr marL="0" indent="0" algn="just">
              <a:spcBef>
                <a:spcPts val="0"/>
              </a:spcBef>
              <a:buNone/>
            </a:pPr>
            <a:r>
              <a:rPr lang="es-AR" sz="1600" dirty="0"/>
              <a:t>Como recomendación, el próximo paso sería ampliar el dataset, probar embeddings preentrenados en un entorno más flexible y explorar técnicas de balanceo de clases o data augmentation.</a:t>
            </a:r>
          </a:p>
        </p:txBody>
      </p:sp>
      <p:pic>
        <p:nvPicPr>
          <p:cNvPr id="5" name="Marcador de contenido 4" descr="Idea, bombilla, éxito, inspiración, papel arrugado">
            <a:extLst>
              <a:ext uri="{FF2B5EF4-FFF2-40B4-BE49-F238E27FC236}">
                <a16:creationId xmlns:a16="http://schemas.microsoft.com/office/drawing/2014/main" id="{4A80523E-C82D-433E-A5C6-1C1E7AA01615}"/>
              </a:ext>
            </a:extLst>
          </p:cNvPr>
          <p:cNvPicPr>
            <a:picLocks noGrp="1" noChangeAspect="1"/>
          </p:cNvPicPr>
          <p:nvPr>
            <p:ph sz="half" idx="1"/>
          </p:nvPr>
        </p:nvPicPr>
        <p:blipFill>
          <a:blip r:embed="rId3"/>
          <a:srcRect l="16354" r="30646"/>
          <a:stretch>
            <a:fillRect/>
          </a:stretch>
        </p:blipFill>
        <p:spPr>
          <a:xfrm>
            <a:off x="7345680" y="10"/>
            <a:ext cx="4846320" cy="6857990"/>
          </a:xfrm>
          <a:prstGeom prst="rect">
            <a:avLst/>
          </a:prstGeom>
        </p:spPr>
      </p:pic>
    </p:spTree>
    <p:extLst>
      <p:ext uri="{BB962C8B-B14F-4D97-AF65-F5344CB8AC3E}">
        <p14:creationId xmlns:p14="http://schemas.microsoft.com/office/powerpoint/2010/main" val="3646549462"/>
      </p:ext>
    </p:extLst>
  </p:cSld>
  <p:clrMapOvr>
    <a:masterClrMapping/>
  </p:clrMapOvr>
  <p:transition>
    <p:fade/>
  </p:transition>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170</TotalTime>
  <Words>908</Words>
  <Application>Microsoft Office PowerPoint</Application>
  <PresentationFormat>Panorámica</PresentationFormat>
  <Paragraphs>102</Paragraphs>
  <Slides>9</Slides>
  <Notes>8</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9</vt:i4>
      </vt:variant>
    </vt:vector>
  </HeadingPairs>
  <TitlesOfParts>
    <vt:vector size="13" baseType="lpstr">
      <vt:lpstr>Aptos</vt:lpstr>
      <vt:lpstr>Aptos Display</vt:lpstr>
      <vt:lpstr>Arial</vt:lpstr>
      <vt:lpstr>Tema de Office</vt:lpstr>
      <vt:lpstr>CoderHouse - Proyecto Final  Data Science III:  NLP &amp; Deep Learning  </vt:lpstr>
      <vt:lpstr>Análisis de Tweets en Español</vt:lpstr>
      <vt:lpstr>Pre procesamiento de texto</vt:lpstr>
      <vt:lpstr>Análisis Exploratorio de Tweets</vt:lpstr>
      <vt:lpstr>Preparación para Deep Learning</vt:lpstr>
      <vt:lpstr>Resultado de cada Modelo</vt:lpstr>
      <vt:lpstr>Modelo CNN en Textos Cortos</vt:lpstr>
      <vt:lpstr>Presentación de PowerPoint</vt:lpstr>
      <vt:lpstr>Conclusiones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josias agüero</dc:creator>
  <cp:lastModifiedBy>josias agüero</cp:lastModifiedBy>
  <cp:revision>2</cp:revision>
  <dcterms:created xsi:type="dcterms:W3CDTF">2025-06-24T22:30:19Z</dcterms:created>
  <dcterms:modified xsi:type="dcterms:W3CDTF">2025-06-25T01:20:52Z</dcterms:modified>
</cp:coreProperties>
</file>